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4" roundtripDataSignature="AMtx7mhWCiD47ZjuA6is4xxxZI+po0pFB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24" Type="http://customschemas.google.com/relationships/presentationmetadata" Target="metadata"/><Relationship Id="rId12" Type="http://schemas.openxmlformats.org/officeDocument/2006/relationships/slide" Target="slides/slide8.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E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7" name="Google Shape;11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3" name="Google Shape;123;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0" name="Google Shape;19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97" name="Google Shape;197;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2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25"/>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25"/>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25"/>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54" name="Shape 54"/>
        <p:cNvGrpSpPr/>
        <p:nvPr/>
      </p:nvGrpSpPr>
      <p:grpSpPr>
        <a:xfrm>
          <a:off x="0" y="0"/>
          <a:ext cx="0" cy="0"/>
          <a:chOff x="0" y="0"/>
          <a:chExt cx="0" cy="0"/>
        </a:xfrm>
      </p:grpSpPr>
      <p:sp>
        <p:nvSpPr>
          <p:cNvPr id="55" name="Google Shape;55;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58" name="Shape 58"/>
        <p:cNvGrpSpPr/>
        <p:nvPr/>
      </p:nvGrpSpPr>
      <p:grpSpPr>
        <a:xfrm>
          <a:off x="0" y="0"/>
          <a:ext cx="0" cy="0"/>
          <a:chOff x="0" y="0"/>
          <a:chExt cx="0" cy="0"/>
        </a:xfrm>
      </p:grpSpPr>
      <p:sp>
        <p:nvSpPr>
          <p:cNvPr id="59" name="Google Shape;59;p2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28"/>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28"/>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65" name="Shape 65"/>
        <p:cNvGrpSpPr/>
        <p:nvPr/>
      </p:nvGrpSpPr>
      <p:grpSpPr>
        <a:xfrm>
          <a:off x="0" y="0"/>
          <a:ext cx="0" cy="0"/>
          <a:chOff x="0" y="0"/>
          <a:chExt cx="0" cy="0"/>
        </a:xfrm>
      </p:grpSpPr>
      <p:sp>
        <p:nvSpPr>
          <p:cNvPr id="66" name="Google Shape;66;p2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29"/>
          <p:cNvSpPr/>
          <p:nvPr>
            <p:ph idx="2" type="pic"/>
          </p:nvPr>
        </p:nvSpPr>
        <p:spPr>
          <a:xfrm>
            <a:off x="5183188" y="987425"/>
            <a:ext cx="6172200" cy="4873625"/>
          </a:xfrm>
          <a:prstGeom prst="rect">
            <a:avLst/>
          </a:prstGeom>
          <a:noFill/>
          <a:ln>
            <a:noFill/>
          </a:ln>
        </p:spPr>
      </p:sp>
      <p:sp>
        <p:nvSpPr>
          <p:cNvPr id="68" name="Google Shape;68;p29"/>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72" name="Shape 72"/>
        <p:cNvGrpSpPr/>
        <p:nvPr/>
      </p:nvGrpSpPr>
      <p:grpSpPr>
        <a:xfrm>
          <a:off x="0" y="0"/>
          <a:ext cx="0" cy="0"/>
          <a:chOff x="0" y="0"/>
          <a:chExt cx="0" cy="0"/>
        </a:xfrm>
      </p:grpSpPr>
      <p:sp>
        <p:nvSpPr>
          <p:cNvPr id="73" name="Google Shape;73;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0"/>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78" name="Shape 78"/>
        <p:cNvGrpSpPr/>
        <p:nvPr/>
      </p:nvGrpSpPr>
      <p:grpSpPr>
        <a:xfrm>
          <a:off x="0" y="0"/>
          <a:ext cx="0" cy="0"/>
          <a:chOff x="0" y="0"/>
          <a:chExt cx="0" cy="0"/>
        </a:xfrm>
      </p:grpSpPr>
      <p:sp>
        <p:nvSpPr>
          <p:cNvPr id="79" name="Google Shape;79;p3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s-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E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hyperlink" Target="mailto:ruben.diaz@ucom.edu.p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jpg"/><Relationship Id="rId4" Type="http://schemas.openxmlformats.org/officeDocument/2006/relationships/hyperlink" Target="http://www.catb.org/~esr/writings/taoup/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hyperlink" Target="mailto:ruben.diaz@ucom.edu.p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pic>
        <p:nvPicPr>
          <p:cNvPr id="88" name="Google Shape;88;p1"/>
          <p:cNvPicPr preferRelativeResize="0"/>
          <p:nvPr/>
        </p:nvPicPr>
        <p:blipFill rotWithShape="1">
          <a:blip r:embed="rId4">
            <a:alphaModFix/>
          </a:blip>
          <a:srcRect b="0" l="0" r="0" t="0"/>
          <a:stretch/>
        </p:blipFill>
        <p:spPr>
          <a:xfrm>
            <a:off x="622822" y="631738"/>
            <a:ext cx="1997408" cy="441288"/>
          </a:xfrm>
          <a:prstGeom prst="rect">
            <a:avLst/>
          </a:prstGeom>
          <a:noFill/>
          <a:ln>
            <a:noFill/>
          </a:ln>
        </p:spPr>
      </p:pic>
      <p:sp>
        <p:nvSpPr>
          <p:cNvPr id="89" name="Google Shape;89;p1"/>
          <p:cNvSpPr/>
          <p:nvPr/>
        </p:nvSpPr>
        <p:spPr>
          <a:xfrm>
            <a:off x="623597" y="1932781"/>
            <a:ext cx="10944807" cy="1518200"/>
          </a:xfrm>
          <a:prstGeom prst="rect">
            <a:avLst/>
          </a:prstGeom>
          <a:noFill/>
          <a:ln>
            <a:noFill/>
          </a:ln>
        </p:spPr>
        <p:txBody>
          <a:bodyPr anchorCtr="0" anchor="b" bIns="45700" lIns="91425" spcFirstLastPara="1" rIns="91425" wrap="square" tIns="45700">
            <a:normAutofit/>
          </a:bodyPr>
          <a:lstStyle/>
          <a:p>
            <a:pPr indent="0" lvl="0" marL="0" marR="0" rtl="0" algn="ctr">
              <a:lnSpc>
                <a:spcPct val="90000"/>
              </a:lnSpc>
              <a:spcBef>
                <a:spcPts val="0"/>
              </a:spcBef>
              <a:spcAft>
                <a:spcPts val="0"/>
              </a:spcAft>
              <a:buClr>
                <a:schemeClr val="lt1"/>
              </a:buClr>
              <a:buSzPts val="7200"/>
              <a:buFont typeface="Calibri"/>
              <a:buNone/>
            </a:pPr>
            <a:r>
              <a:rPr b="1" i="0" lang="es-ES" sz="7200" u="none" cap="none" strike="noStrike">
                <a:solidFill>
                  <a:schemeClr val="lt1"/>
                </a:solidFill>
                <a:latin typeface="Calibri"/>
                <a:ea typeface="Calibri"/>
                <a:cs typeface="Calibri"/>
                <a:sym typeface="Calibri"/>
              </a:rPr>
              <a:t>Programacion Unix-Linux (I)</a:t>
            </a:r>
            <a:endParaRPr b="1" i="0" sz="7200" u="none" cap="none" strike="noStrike">
              <a:solidFill>
                <a:schemeClr val="lt1"/>
              </a:solidFill>
              <a:latin typeface="Calibri"/>
              <a:ea typeface="Calibri"/>
              <a:cs typeface="Calibri"/>
              <a:sym typeface="Calibri"/>
            </a:endParaRPr>
          </a:p>
        </p:txBody>
      </p:sp>
      <p:sp>
        <p:nvSpPr>
          <p:cNvPr id="90" name="Google Shape;90;p1"/>
          <p:cNvSpPr/>
          <p:nvPr/>
        </p:nvSpPr>
        <p:spPr>
          <a:xfrm>
            <a:off x="1429140" y="3761575"/>
            <a:ext cx="9144000" cy="1163644"/>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lt1"/>
              </a:buClr>
              <a:buSzPts val="4800"/>
              <a:buFont typeface="Arial"/>
              <a:buNone/>
            </a:pPr>
            <a:r>
              <a:rPr b="0" i="0" lang="es-ES" sz="4800" u="none" cap="none" strike="noStrike">
                <a:solidFill>
                  <a:schemeClr val="lt1"/>
                </a:solidFill>
                <a:latin typeface="Calibri"/>
                <a:ea typeface="Calibri"/>
                <a:cs typeface="Calibri"/>
                <a:sym typeface="Calibri"/>
              </a:rPr>
              <a:t>Filosofía de Unix</a:t>
            </a:r>
            <a:endParaRPr/>
          </a:p>
          <a:p>
            <a:pPr indent="0" lvl="0" marL="0" marR="0" rtl="0" algn="ctr">
              <a:lnSpc>
                <a:spcPct val="90000"/>
              </a:lnSpc>
              <a:spcBef>
                <a:spcPts val="1000"/>
              </a:spcBef>
              <a:spcAft>
                <a:spcPts val="0"/>
              </a:spcAft>
              <a:buClr>
                <a:schemeClr val="dk1"/>
              </a:buClr>
              <a:buSzPts val="3200"/>
              <a:buFont typeface="Arial"/>
              <a:buNone/>
            </a:pPr>
            <a:r>
              <a:t/>
            </a:r>
            <a:endParaRPr b="0" i="0" sz="3200" u="none" cap="none" strike="noStrike">
              <a:solidFill>
                <a:schemeClr val="lt1"/>
              </a:solidFill>
              <a:latin typeface="Calibri"/>
              <a:ea typeface="Calibri"/>
              <a:cs typeface="Calibri"/>
              <a:sym typeface="Calibri"/>
            </a:endParaRPr>
          </a:p>
          <a:p>
            <a:pPr indent="0" lvl="0" marL="0" marR="0" rtl="0" algn="ctr">
              <a:lnSpc>
                <a:spcPct val="90000"/>
              </a:lnSpc>
              <a:spcBef>
                <a:spcPts val="1000"/>
              </a:spcBef>
              <a:spcAft>
                <a:spcPts val="0"/>
              </a:spcAft>
              <a:buClr>
                <a:schemeClr val="lt1"/>
              </a:buClr>
              <a:buSzPts val="3200"/>
              <a:buFont typeface="Arial"/>
              <a:buNone/>
            </a:pPr>
            <a:r>
              <a:rPr b="0" i="0" lang="es-ES" sz="3200" u="none" cap="none" strike="noStrike">
                <a:solidFill>
                  <a:schemeClr val="lt1"/>
                </a:solidFill>
                <a:latin typeface="Calibri"/>
                <a:ea typeface="Calibri"/>
                <a:cs typeface="Calibri"/>
                <a:sym typeface="Calibri"/>
              </a:rPr>
              <a:t>Profesor: Rubén Díaz (</a:t>
            </a:r>
            <a:r>
              <a:rPr b="0" i="0" lang="es-ES" sz="3200" u="sng" cap="none" strike="noStrike">
                <a:solidFill>
                  <a:schemeClr val="lt1"/>
                </a:solidFill>
                <a:latin typeface="Calibri"/>
                <a:ea typeface="Calibri"/>
                <a:cs typeface="Calibri"/>
                <a:sym typeface="Calibri"/>
                <a:hlinkClick r:id="rId5">
                  <a:extLst>
                    <a:ext uri="{A12FA001-AC4F-418D-AE19-62706E023703}">
                      <ahyp:hlinkClr val="tx"/>
                    </a:ext>
                  </a:extLst>
                </a:hlinkClick>
              </a:rPr>
              <a:t>ruben.diaz@t.ucom.edu.py</a:t>
            </a:r>
            <a:r>
              <a:rPr b="0" i="0" lang="es-ES" sz="3200" u="none" cap="none" strike="noStrike">
                <a:solidFill>
                  <a:schemeClr val="lt1"/>
                </a:solidFill>
                <a:latin typeface="Calibri"/>
                <a:ea typeface="Calibri"/>
                <a:cs typeface="Calibri"/>
                <a:sym typeface="Calibri"/>
              </a:rPr>
              <a:t>)</a:t>
            </a:r>
            <a:endParaRPr/>
          </a:p>
          <a:p>
            <a:pPr indent="0" lvl="0" marL="0" marR="0" rtl="0" algn="ctr">
              <a:lnSpc>
                <a:spcPct val="90000"/>
              </a:lnSpc>
              <a:spcBef>
                <a:spcPts val="1000"/>
              </a:spcBef>
              <a:spcAft>
                <a:spcPts val="0"/>
              </a:spcAft>
              <a:buClr>
                <a:schemeClr val="lt1"/>
              </a:buClr>
              <a:buSzPts val="3200"/>
              <a:buFont typeface="Arial"/>
              <a:buNone/>
            </a:pPr>
            <a:r>
              <a:rPr b="0" i="0" lang="es-ES" sz="3200" u="none" cap="none" strike="noStrike">
                <a:solidFill>
                  <a:schemeClr val="lt1"/>
                </a:solidFill>
                <a:latin typeface="Calibri"/>
                <a:ea typeface="Calibri"/>
                <a:cs typeface="Calibri"/>
                <a:sym typeface="Calibri"/>
              </a:rPr>
              <a:t>Junio de 202</a:t>
            </a:r>
            <a:r>
              <a:rPr lang="es-ES" sz="3200">
                <a:solidFill>
                  <a:schemeClr val="lt1"/>
                </a:solidFill>
                <a:latin typeface="Calibri"/>
                <a:ea typeface="Calibri"/>
                <a:cs typeface="Calibri"/>
                <a:sym typeface="Calibri"/>
              </a:rPr>
              <a:t>6</a:t>
            </a:r>
            <a:r>
              <a:rPr b="0" i="0" lang="es-ES" sz="3200" u="none" cap="none" strike="noStrike">
                <a:solidFill>
                  <a:schemeClr val="lt1"/>
                </a:solidFill>
                <a:latin typeface="Calibri"/>
                <a:ea typeface="Calibri"/>
                <a:cs typeface="Calibri"/>
                <a:sym typeface="Calibri"/>
              </a:rPr>
              <a:t> </a:t>
            </a:r>
            <a:endParaRPr b="0" i="0" sz="3200" u="none" cap="none" strike="noStrike">
              <a:solidFill>
                <a:schemeClr val="lt1"/>
              </a:solidFill>
              <a:latin typeface="Calibri"/>
              <a:ea typeface="Calibri"/>
              <a:cs typeface="Calibri"/>
              <a:sym typeface="Calibri"/>
            </a:endParaRPr>
          </a:p>
          <a:p>
            <a:pPr indent="0" lvl="0" marL="0" marR="0" rtl="0" algn="ctr">
              <a:lnSpc>
                <a:spcPct val="90000"/>
              </a:lnSpc>
              <a:spcBef>
                <a:spcPts val="1000"/>
              </a:spcBef>
              <a:spcAft>
                <a:spcPts val="0"/>
              </a:spcAft>
              <a:buClr>
                <a:schemeClr val="dk1"/>
              </a:buClr>
              <a:buSzPts val="3200"/>
              <a:buFont typeface="Arial"/>
              <a:buNone/>
            </a:pPr>
            <a:r>
              <a:t/>
            </a:r>
            <a:endParaRPr b="0" i="0" sz="3200" u="none" cap="none" strike="noStrike">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4" name="Shape 94"/>
        <p:cNvGrpSpPr/>
        <p:nvPr/>
      </p:nvGrpSpPr>
      <p:grpSpPr>
        <a:xfrm>
          <a:off x="0" y="0"/>
          <a:ext cx="0" cy="0"/>
          <a:chOff x="0" y="0"/>
          <a:chExt cx="0" cy="0"/>
        </a:xfrm>
      </p:grpSpPr>
      <p:sp>
        <p:nvSpPr>
          <p:cNvPr id="95" name="Google Shape;95;p2"/>
          <p:cNvSpPr txBox="1"/>
          <p:nvPr>
            <p:ph type="ctrTitle"/>
          </p:nvPr>
        </p:nvSpPr>
        <p:spPr>
          <a:xfrm>
            <a:off x="1524000" y="758470"/>
            <a:ext cx="9144000" cy="75309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400"/>
              <a:buFont typeface="Calibri"/>
              <a:buNone/>
            </a:pPr>
            <a:r>
              <a:rPr lang="es-ES" sz="4400">
                <a:solidFill>
                  <a:schemeClr val="lt1"/>
                </a:solidFill>
              </a:rPr>
              <a:t>Contenido</a:t>
            </a:r>
            <a:endParaRPr/>
          </a:p>
        </p:txBody>
      </p:sp>
      <p:sp>
        <p:nvSpPr>
          <p:cNvPr id="96" name="Google Shape;96;p2"/>
          <p:cNvSpPr txBox="1"/>
          <p:nvPr>
            <p:ph idx="1" type="subTitle"/>
          </p:nvPr>
        </p:nvSpPr>
        <p:spPr>
          <a:xfrm>
            <a:off x="1390261" y="1875453"/>
            <a:ext cx="9601200" cy="4105469"/>
          </a:xfrm>
          <a:prstGeom prst="rect">
            <a:avLst/>
          </a:prstGeom>
          <a:noFill/>
          <a:ln>
            <a:noFill/>
          </a:ln>
        </p:spPr>
        <p:txBody>
          <a:bodyPr anchorCtr="0" anchor="t" bIns="45700" lIns="91425" spcFirstLastPara="1" rIns="91425" wrap="square" tIns="45700">
            <a:normAutofit fontScale="92500" lnSpcReduction="10000"/>
          </a:bodyPr>
          <a:lstStyle/>
          <a:p>
            <a:pPr indent="-857250" lvl="0" marL="857250" rtl="0" algn="l">
              <a:lnSpc>
                <a:spcPct val="90000"/>
              </a:lnSpc>
              <a:spcBef>
                <a:spcPts val="0"/>
              </a:spcBef>
              <a:spcAft>
                <a:spcPts val="0"/>
              </a:spcAft>
              <a:buClr>
                <a:schemeClr val="lt1"/>
              </a:buClr>
              <a:buSzPct val="100000"/>
              <a:buFont typeface="Arial"/>
              <a:buChar char="•"/>
            </a:pPr>
            <a:r>
              <a:rPr lang="es-ES" sz="2800">
                <a:solidFill>
                  <a:schemeClr val="lt1"/>
                </a:solidFill>
              </a:rPr>
              <a:t>Origen</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El Entorno de Programación del UNIX</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Diseño de programas en el entorno UNIX</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Doug McIlroy sobre la programación de Unix</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Haz una cosa y hazla bien</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Las 17 Reglas de Unix de Eric Raymond</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Mike Gancarz: La Filosofía de UNIX</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"Peor es mejor“</a:t>
            </a:r>
            <a:endParaRPr/>
          </a:p>
          <a:p>
            <a:pPr indent="-857250" lvl="0" marL="857250" rtl="0" algn="l">
              <a:lnSpc>
                <a:spcPct val="90000"/>
              </a:lnSpc>
              <a:spcBef>
                <a:spcPts val="1000"/>
              </a:spcBef>
              <a:spcAft>
                <a:spcPts val="0"/>
              </a:spcAft>
              <a:buClr>
                <a:schemeClr val="lt1"/>
              </a:buClr>
              <a:buSzPct val="100000"/>
              <a:buFont typeface="Arial"/>
              <a:buChar char="•"/>
            </a:pPr>
            <a:r>
              <a:rPr lang="es-ES" sz="2800">
                <a:solidFill>
                  <a:schemeClr val="lt1"/>
                </a:solidFill>
              </a:rPr>
              <a:t>Todo es un archivo</a:t>
            </a:r>
            <a:endParaRPr sz="1000">
              <a:solidFill>
                <a:schemeClr val="l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 name="Shape 100"/>
        <p:cNvGrpSpPr/>
        <p:nvPr/>
      </p:nvGrpSpPr>
      <p:grpSpPr>
        <a:xfrm>
          <a:off x="0" y="0"/>
          <a:ext cx="0" cy="0"/>
          <a:chOff x="0" y="0"/>
          <a:chExt cx="0" cy="0"/>
        </a:xfrm>
      </p:grpSpPr>
      <p:sp>
        <p:nvSpPr>
          <p:cNvPr id="101" name="Google Shape;101;p3"/>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s-ES">
                <a:solidFill>
                  <a:schemeClr val="lt1"/>
                </a:solidFill>
              </a:rPr>
              <a:t>Filosofía de Unix</a:t>
            </a:r>
            <a:endParaRPr/>
          </a:p>
        </p:txBody>
      </p:sp>
      <p:sp>
        <p:nvSpPr>
          <p:cNvPr id="102" name="Google Shape;102;p3"/>
          <p:cNvSpPr txBox="1"/>
          <p:nvPr>
            <p:ph idx="1" type="subTitle"/>
          </p:nvPr>
        </p:nvSpPr>
        <p:spPr>
          <a:xfrm>
            <a:off x="1523999" y="1614195"/>
            <a:ext cx="9318171" cy="4338736"/>
          </a:xfrm>
          <a:prstGeom prst="rect">
            <a:avLst/>
          </a:prstGeom>
          <a:noFill/>
          <a:ln>
            <a:noFill/>
          </a:ln>
        </p:spPr>
        <p:txBody>
          <a:bodyPr anchorCtr="0" anchor="t" bIns="45700" lIns="91425" spcFirstLastPara="1" rIns="91425" wrap="square" tIns="45700">
            <a:normAutofit fontScale="92500" lnSpcReduction="20000"/>
          </a:bodyPr>
          <a:lstStyle/>
          <a:p>
            <a:pPr indent="-342900" lvl="0" marL="342900" rtl="0" algn="l">
              <a:lnSpc>
                <a:spcPct val="90000"/>
              </a:lnSpc>
              <a:spcBef>
                <a:spcPts val="0"/>
              </a:spcBef>
              <a:spcAft>
                <a:spcPts val="0"/>
              </a:spcAft>
              <a:buClr>
                <a:schemeClr val="lt1"/>
              </a:buClr>
              <a:buSzPct val="100000"/>
              <a:buFont typeface="Arial"/>
              <a:buChar char="•"/>
            </a:pPr>
            <a:r>
              <a:rPr lang="es-ES">
                <a:solidFill>
                  <a:schemeClr val="lt1"/>
                </a:solidFill>
              </a:rPr>
              <a:t>La filosofía de Unix , originada por Ken Thompson , es un conjunto de normas culturales y enfoques filosóficos minimalista , modular el desarrollo de software . </a:t>
            </a:r>
            <a:endParaRPr/>
          </a:p>
          <a:p>
            <a:pPr indent="-342900" lvl="0" marL="342900" rtl="0" algn="l">
              <a:lnSpc>
                <a:spcPct val="90000"/>
              </a:lnSpc>
              <a:spcBef>
                <a:spcPts val="1000"/>
              </a:spcBef>
              <a:spcAft>
                <a:spcPts val="0"/>
              </a:spcAft>
              <a:buClr>
                <a:schemeClr val="lt1"/>
              </a:buClr>
              <a:buSzPct val="100000"/>
              <a:buFont typeface="Arial"/>
              <a:buChar char="•"/>
            </a:pPr>
            <a:r>
              <a:rPr lang="es-ES">
                <a:solidFill>
                  <a:schemeClr val="lt1"/>
                </a:solidFill>
              </a:rPr>
              <a:t>Se basa en la experiencia de los principales desarrolladores del sistema operativo Unix . Los primeros desarrolladores de Unix fueron importantes al llevar los conceptos de modularidad y reutilización a la práctica de la ingeniería de software, generando un movimiento de " herramientas de software ". </a:t>
            </a:r>
            <a:endParaRPr/>
          </a:p>
          <a:p>
            <a:pPr indent="-342900" lvl="0" marL="342900" rtl="0" algn="l">
              <a:lnSpc>
                <a:spcPct val="90000"/>
              </a:lnSpc>
              <a:spcBef>
                <a:spcPts val="1000"/>
              </a:spcBef>
              <a:spcAft>
                <a:spcPts val="0"/>
              </a:spcAft>
              <a:buClr>
                <a:schemeClr val="lt1"/>
              </a:buClr>
              <a:buSzPct val="100000"/>
              <a:buFont typeface="Arial"/>
              <a:buChar char="•"/>
            </a:pPr>
            <a:r>
              <a:rPr lang="es-ES">
                <a:solidFill>
                  <a:schemeClr val="lt1"/>
                </a:solidFill>
              </a:rPr>
              <a:t>Con el tiempo, los principales desarrolladores de Unix (y los programas que se ejecutaban en él) establecieron un conjunto de normas culturales para desarrollar software; estas normas se volvieron tan importantes e influyentes como la tecnología de Unix misma; esto se ha denominado la "filosofía Unix".</a:t>
            </a:r>
            <a:endParaRPr/>
          </a:p>
          <a:p>
            <a:pPr indent="-342900" lvl="0" marL="342900" rtl="0" algn="l">
              <a:lnSpc>
                <a:spcPct val="90000"/>
              </a:lnSpc>
              <a:spcBef>
                <a:spcPts val="1000"/>
              </a:spcBef>
              <a:spcAft>
                <a:spcPts val="0"/>
              </a:spcAft>
              <a:buClr>
                <a:schemeClr val="lt1"/>
              </a:buClr>
              <a:buSzPct val="100000"/>
              <a:buFont typeface="Arial"/>
              <a:buChar char="•"/>
            </a:pPr>
            <a:r>
              <a:rPr lang="es-ES">
                <a:solidFill>
                  <a:schemeClr val="lt1"/>
                </a:solidFill>
              </a:rPr>
              <a:t>La filosofía de Unix enfatiza la construcción de código simple, corto, claro, modular y extensible que puede ser fácilmente mantenido y reutilizado por desarrolladores que no sean sus creadores. La filosofía Unix favorece la componibilidad en contraposición al diseño monolítico .</a:t>
            </a:r>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6" name="Shape 106"/>
        <p:cNvGrpSpPr/>
        <p:nvPr/>
      </p:nvGrpSpPr>
      <p:grpSpPr>
        <a:xfrm>
          <a:off x="0" y="0"/>
          <a:ext cx="0" cy="0"/>
          <a:chOff x="0" y="0"/>
          <a:chExt cx="0" cy="0"/>
        </a:xfrm>
      </p:grpSpPr>
      <p:sp>
        <p:nvSpPr>
          <p:cNvPr id="107" name="Google Shape;107;p4"/>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s-ES">
                <a:solidFill>
                  <a:schemeClr val="lt1"/>
                </a:solidFill>
              </a:rPr>
              <a:t>Filosofía de Unix</a:t>
            </a:r>
            <a:endParaRPr/>
          </a:p>
        </p:txBody>
      </p:sp>
      <p:sp>
        <p:nvSpPr>
          <p:cNvPr id="108" name="Google Shape;108;p4"/>
          <p:cNvSpPr txBox="1"/>
          <p:nvPr>
            <p:ph idx="1" type="subTitle"/>
          </p:nvPr>
        </p:nvSpPr>
        <p:spPr>
          <a:xfrm>
            <a:off x="1523999" y="1614195"/>
            <a:ext cx="9318171" cy="4338736"/>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90000"/>
              </a:lnSpc>
              <a:spcBef>
                <a:spcPts val="0"/>
              </a:spcBef>
              <a:spcAft>
                <a:spcPts val="0"/>
              </a:spcAft>
              <a:buClr>
                <a:schemeClr val="lt1"/>
              </a:buClr>
              <a:buSzPct val="100000"/>
              <a:buFont typeface="Arial"/>
              <a:buChar char="•"/>
            </a:pPr>
            <a:r>
              <a:rPr lang="es-ES">
                <a:solidFill>
                  <a:schemeClr val="lt1"/>
                </a:solidFill>
              </a:rPr>
              <a:t>La filosofía Unix está documentada por Doug McIlroy en el Bell System Technical Journal de 1978:</a:t>
            </a:r>
            <a:endParaRPr/>
          </a:p>
          <a:p>
            <a:pPr indent="-342900" lvl="1" marL="800100" rtl="0" algn="l">
              <a:lnSpc>
                <a:spcPct val="90000"/>
              </a:lnSpc>
              <a:spcBef>
                <a:spcPts val="500"/>
              </a:spcBef>
              <a:spcAft>
                <a:spcPts val="0"/>
              </a:spcAft>
              <a:buClr>
                <a:schemeClr val="lt1"/>
              </a:buClr>
              <a:buSzPct val="100000"/>
              <a:buFont typeface="Arial"/>
              <a:buChar char="•"/>
            </a:pPr>
            <a:r>
              <a:rPr lang="es-ES">
                <a:solidFill>
                  <a:schemeClr val="lt1"/>
                </a:solidFill>
              </a:rPr>
              <a:t>Haga que cada programa haga bien una cosa. Para hacer un nuevo trabajo, cree de nuevo en lugar de complicar los programas antiguos agregando nuevas "características".</a:t>
            </a:r>
            <a:endParaRPr/>
          </a:p>
          <a:p>
            <a:pPr indent="-342900" lvl="1" marL="800100" rtl="0" algn="l">
              <a:lnSpc>
                <a:spcPct val="90000"/>
              </a:lnSpc>
              <a:spcBef>
                <a:spcPts val="500"/>
              </a:spcBef>
              <a:spcAft>
                <a:spcPts val="0"/>
              </a:spcAft>
              <a:buClr>
                <a:schemeClr val="lt1"/>
              </a:buClr>
              <a:buSzPct val="100000"/>
              <a:buFont typeface="Arial"/>
              <a:buChar char="•"/>
            </a:pPr>
            <a:r>
              <a:rPr lang="es-ES">
                <a:solidFill>
                  <a:schemeClr val="lt1"/>
                </a:solidFill>
              </a:rPr>
              <a:t>Espere que la salida de cada programa se convierta en la entrada de otro programa aún desconocido. No abarrote la salida con información extraña. Evite los formatos de entrada estrictamente en columnas o binarios. No insista en la entrada interactiva.</a:t>
            </a:r>
            <a:endParaRPr/>
          </a:p>
          <a:p>
            <a:pPr indent="-342900" lvl="1" marL="800100" rtl="0" algn="l">
              <a:lnSpc>
                <a:spcPct val="90000"/>
              </a:lnSpc>
              <a:spcBef>
                <a:spcPts val="500"/>
              </a:spcBef>
              <a:spcAft>
                <a:spcPts val="0"/>
              </a:spcAft>
              <a:buClr>
                <a:schemeClr val="lt1"/>
              </a:buClr>
              <a:buSzPct val="100000"/>
              <a:buFont typeface="Arial"/>
              <a:buChar char="•"/>
            </a:pPr>
            <a:r>
              <a:rPr lang="es-ES">
                <a:solidFill>
                  <a:schemeClr val="lt1"/>
                </a:solidFill>
              </a:rPr>
              <a:t>Diseñe y cree software, incluso sistemas operativos, para probarlo pronto, idealmente en unas semanas. No dude en deshacerse de las piezas torpes y reconstruirlas.</a:t>
            </a:r>
            <a:endParaRPr/>
          </a:p>
          <a:p>
            <a:pPr indent="-342900" lvl="1" marL="800100" rtl="0" algn="l">
              <a:lnSpc>
                <a:spcPct val="90000"/>
              </a:lnSpc>
              <a:spcBef>
                <a:spcPts val="500"/>
              </a:spcBef>
              <a:spcAft>
                <a:spcPts val="0"/>
              </a:spcAft>
              <a:buClr>
                <a:schemeClr val="lt1"/>
              </a:buClr>
              <a:buSzPct val="100000"/>
              <a:buFont typeface="Arial"/>
              <a:buChar char="•"/>
            </a:pPr>
            <a:r>
              <a:rPr lang="es-ES">
                <a:solidFill>
                  <a:schemeClr val="lt1"/>
                </a:solidFill>
              </a:rPr>
              <a:t>Use herramientas en lugar de ayuda no calificada para aligerar una tarea de programación, incluso si tiene que desviarse para construir las herramientas y esperar deshacerse de algunas de ellas después de que haya terminado de usarlas.</a:t>
            </a:r>
            <a:endParaRPr>
              <a:solidFill>
                <a:schemeClr val="lt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2" name="Shape 112"/>
        <p:cNvGrpSpPr/>
        <p:nvPr/>
      </p:nvGrpSpPr>
      <p:grpSpPr>
        <a:xfrm>
          <a:off x="0" y="0"/>
          <a:ext cx="0" cy="0"/>
          <a:chOff x="0" y="0"/>
          <a:chExt cx="0" cy="0"/>
        </a:xfrm>
      </p:grpSpPr>
      <p:sp>
        <p:nvSpPr>
          <p:cNvPr id="113" name="Google Shape;113;p5"/>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s-ES">
                <a:solidFill>
                  <a:schemeClr val="lt1"/>
                </a:solidFill>
              </a:rPr>
              <a:t>Filosofía de Unix</a:t>
            </a:r>
            <a:endParaRPr/>
          </a:p>
        </p:txBody>
      </p:sp>
      <p:sp>
        <p:nvSpPr>
          <p:cNvPr id="114" name="Google Shape;114;p5"/>
          <p:cNvSpPr txBox="1"/>
          <p:nvPr>
            <p:ph idx="1" type="subTitle"/>
          </p:nvPr>
        </p:nvSpPr>
        <p:spPr>
          <a:xfrm>
            <a:off x="1523999" y="1614195"/>
            <a:ext cx="9542107" cy="4040156"/>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lt1"/>
              </a:buClr>
              <a:buSzPts val="2800"/>
              <a:buFont typeface="Arial"/>
              <a:buChar char="•"/>
            </a:pPr>
            <a:r>
              <a:rPr lang="es-ES" sz="2800">
                <a:solidFill>
                  <a:schemeClr val="lt1"/>
                </a:solidFill>
              </a:rPr>
              <a:t>Más tarde fue resumido por Peter H. Salus en A Quarter-Century of Unix (1994):</a:t>
            </a:r>
            <a:endParaRPr/>
          </a:p>
          <a:p>
            <a:pPr indent="-342900" lvl="1" marL="800100" rtl="0" algn="l">
              <a:lnSpc>
                <a:spcPct val="90000"/>
              </a:lnSpc>
              <a:spcBef>
                <a:spcPts val="500"/>
              </a:spcBef>
              <a:spcAft>
                <a:spcPts val="0"/>
              </a:spcAft>
              <a:buClr>
                <a:schemeClr val="lt1"/>
              </a:buClr>
              <a:buSzPts val="2400"/>
              <a:buFont typeface="Arial"/>
              <a:buChar char="•"/>
            </a:pPr>
            <a:r>
              <a:rPr lang="es-ES" sz="2400">
                <a:solidFill>
                  <a:schemeClr val="lt1"/>
                </a:solidFill>
              </a:rPr>
              <a:t>Escribe programas que hagan una cosa y la hagan bien.</a:t>
            </a:r>
            <a:endParaRPr/>
          </a:p>
          <a:p>
            <a:pPr indent="-342900" lvl="1" marL="800100" rtl="0" algn="l">
              <a:lnSpc>
                <a:spcPct val="90000"/>
              </a:lnSpc>
              <a:spcBef>
                <a:spcPts val="500"/>
              </a:spcBef>
              <a:spcAft>
                <a:spcPts val="0"/>
              </a:spcAft>
              <a:buClr>
                <a:schemeClr val="lt1"/>
              </a:buClr>
              <a:buSzPts val="2400"/>
              <a:buFont typeface="Arial"/>
              <a:buChar char="•"/>
            </a:pPr>
            <a:r>
              <a:rPr lang="es-ES" sz="2400">
                <a:solidFill>
                  <a:schemeClr val="lt1"/>
                </a:solidFill>
              </a:rPr>
              <a:t>Escriba programas para trabajar juntos.</a:t>
            </a:r>
            <a:endParaRPr/>
          </a:p>
          <a:p>
            <a:pPr indent="-342900" lvl="1" marL="800100" rtl="0" algn="l">
              <a:lnSpc>
                <a:spcPct val="90000"/>
              </a:lnSpc>
              <a:spcBef>
                <a:spcPts val="500"/>
              </a:spcBef>
              <a:spcAft>
                <a:spcPts val="0"/>
              </a:spcAft>
              <a:buClr>
                <a:schemeClr val="lt1"/>
              </a:buClr>
              <a:buSzPts val="2400"/>
              <a:buFont typeface="Arial"/>
              <a:buChar char="•"/>
            </a:pPr>
            <a:r>
              <a:rPr lang="es-ES" sz="2400">
                <a:solidFill>
                  <a:schemeClr val="lt1"/>
                </a:solidFill>
              </a:rPr>
              <a:t>Escriba programas para manejar flujos de texto, porque es una interfaz universal.</a:t>
            </a:r>
            <a:endParaRPr sz="2400">
              <a:solidFill>
                <a:schemeClr val="lt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sp>
        <p:nvSpPr>
          <p:cNvPr id="119" name="Google Shape;119;p6"/>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rmAutofit fontScale="90000"/>
          </a:bodyPr>
          <a:lstStyle/>
          <a:p>
            <a:pPr indent="0" lvl="0" marL="0" rtl="0" algn="ctr">
              <a:lnSpc>
                <a:spcPct val="90000"/>
              </a:lnSpc>
              <a:spcBef>
                <a:spcPts val="0"/>
              </a:spcBef>
              <a:spcAft>
                <a:spcPts val="0"/>
              </a:spcAft>
              <a:buClr>
                <a:schemeClr val="lt1"/>
              </a:buClr>
              <a:buSzPct val="100000"/>
              <a:buFont typeface="Calibri"/>
              <a:buNone/>
            </a:pPr>
            <a:r>
              <a:rPr lang="es-ES">
                <a:solidFill>
                  <a:schemeClr val="lt1"/>
                </a:solidFill>
              </a:rPr>
              <a:t>Filosofía de Unix</a:t>
            </a:r>
            <a:endParaRPr/>
          </a:p>
        </p:txBody>
      </p:sp>
      <p:sp>
        <p:nvSpPr>
          <p:cNvPr id="120" name="Google Shape;120;p6"/>
          <p:cNvSpPr txBox="1"/>
          <p:nvPr>
            <p:ph idx="1" type="subTitle"/>
          </p:nvPr>
        </p:nvSpPr>
        <p:spPr>
          <a:xfrm>
            <a:off x="1523999" y="1614195"/>
            <a:ext cx="9542107" cy="4040156"/>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lt1"/>
              </a:buClr>
              <a:buSzPts val="2800"/>
              <a:buFont typeface="Arial"/>
              <a:buChar char="•"/>
            </a:pPr>
            <a:r>
              <a:rPr lang="es-ES" sz="2800">
                <a:solidFill>
                  <a:schemeClr val="lt1"/>
                </a:solidFill>
              </a:rPr>
              <a:t>En su galardonado artículo Unix de 1974, Ritchie y Thompson citan las siguientes consideraciones de diseño:</a:t>
            </a:r>
            <a:endParaRPr/>
          </a:p>
          <a:p>
            <a:pPr indent="-342900" lvl="1" marL="800100" rtl="0" algn="l">
              <a:lnSpc>
                <a:spcPct val="90000"/>
              </a:lnSpc>
              <a:spcBef>
                <a:spcPts val="500"/>
              </a:spcBef>
              <a:spcAft>
                <a:spcPts val="0"/>
              </a:spcAft>
              <a:buClr>
                <a:schemeClr val="lt1"/>
              </a:buClr>
              <a:buSzPts val="2800"/>
              <a:buFont typeface="Arial"/>
              <a:buChar char="•"/>
            </a:pPr>
            <a:r>
              <a:rPr lang="es-ES" sz="2800">
                <a:solidFill>
                  <a:schemeClr val="lt1"/>
                </a:solidFill>
              </a:rPr>
              <a:t>Facilite la escritura, prueba y ejecución de programas.</a:t>
            </a:r>
            <a:endParaRPr/>
          </a:p>
          <a:p>
            <a:pPr indent="-342900" lvl="1" marL="800100" rtl="0" algn="l">
              <a:lnSpc>
                <a:spcPct val="90000"/>
              </a:lnSpc>
              <a:spcBef>
                <a:spcPts val="500"/>
              </a:spcBef>
              <a:spcAft>
                <a:spcPts val="0"/>
              </a:spcAft>
              <a:buClr>
                <a:schemeClr val="lt1"/>
              </a:buClr>
              <a:buSzPts val="2800"/>
              <a:buFont typeface="Arial"/>
              <a:buChar char="•"/>
            </a:pPr>
            <a:r>
              <a:rPr lang="es-ES" sz="2800">
                <a:solidFill>
                  <a:schemeClr val="lt1"/>
                </a:solidFill>
              </a:rPr>
              <a:t>Uso interactivo en lugar de procesamiento por lotes .</a:t>
            </a:r>
            <a:endParaRPr/>
          </a:p>
          <a:p>
            <a:pPr indent="-342900" lvl="1" marL="800100" rtl="0" algn="l">
              <a:lnSpc>
                <a:spcPct val="90000"/>
              </a:lnSpc>
              <a:spcBef>
                <a:spcPts val="500"/>
              </a:spcBef>
              <a:spcAft>
                <a:spcPts val="0"/>
              </a:spcAft>
              <a:buClr>
                <a:schemeClr val="lt1"/>
              </a:buClr>
              <a:buSzPts val="2800"/>
              <a:buFont typeface="Arial"/>
              <a:buChar char="•"/>
            </a:pPr>
            <a:r>
              <a:rPr lang="es-ES" sz="2800">
                <a:solidFill>
                  <a:schemeClr val="lt1"/>
                </a:solidFill>
              </a:rPr>
              <a:t>Economía y elegancia del diseño debido a limitaciones de tamaño ("salvación a través del sufrimiento").</a:t>
            </a:r>
            <a:endParaRPr/>
          </a:p>
          <a:p>
            <a:pPr indent="-342900" lvl="1" marL="800100" rtl="0" algn="l">
              <a:lnSpc>
                <a:spcPct val="90000"/>
              </a:lnSpc>
              <a:spcBef>
                <a:spcPts val="500"/>
              </a:spcBef>
              <a:spcAft>
                <a:spcPts val="0"/>
              </a:spcAft>
              <a:buClr>
                <a:schemeClr val="lt1"/>
              </a:buClr>
              <a:buSzPts val="2800"/>
              <a:buFont typeface="Arial"/>
              <a:buChar char="•"/>
            </a:pPr>
            <a:r>
              <a:rPr lang="es-ES" sz="2800">
                <a:solidFill>
                  <a:schemeClr val="lt1"/>
                </a:solidFill>
              </a:rPr>
              <a:t>Sistema autoportante : todo el software Unix se mantiene bajo Unix.</a:t>
            </a:r>
            <a:endParaRPr sz="2400">
              <a:solidFill>
                <a:schemeClr val="lt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4" name="Shape 124"/>
        <p:cNvGrpSpPr/>
        <p:nvPr/>
      </p:nvGrpSpPr>
      <p:grpSpPr>
        <a:xfrm>
          <a:off x="0" y="0"/>
          <a:ext cx="0" cy="0"/>
          <a:chOff x="0" y="0"/>
          <a:chExt cx="0" cy="0"/>
        </a:xfrm>
      </p:grpSpPr>
      <p:sp>
        <p:nvSpPr>
          <p:cNvPr id="125" name="Google Shape;125;p7"/>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800"/>
              <a:buFont typeface="Calibri"/>
              <a:buNone/>
            </a:pPr>
            <a:r>
              <a:rPr lang="es-ES" sz="4800">
                <a:solidFill>
                  <a:schemeClr val="lt1"/>
                </a:solidFill>
              </a:rPr>
              <a:t>El entorno de programación Unix</a:t>
            </a:r>
            <a:endParaRPr/>
          </a:p>
        </p:txBody>
      </p:sp>
      <p:sp>
        <p:nvSpPr>
          <p:cNvPr id="126" name="Google Shape;126;p7"/>
          <p:cNvSpPr txBox="1"/>
          <p:nvPr>
            <p:ph idx="1" type="subTitle"/>
          </p:nvPr>
        </p:nvSpPr>
        <p:spPr>
          <a:xfrm>
            <a:off x="998377" y="1614195"/>
            <a:ext cx="10478276" cy="4310744"/>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lt1"/>
              </a:buClr>
              <a:buSzPct val="100000"/>
              <a:buFont typeface="Arial"/>
              <a:buChar char="•"/>
            </a:pPr>
            <a:r>
              <a:rPr lang="es-ES" sz="2800">
                <a:solidFill>
                  <a:schemeClr val="lt1"/>
                </a:solidFill>
              </a:rPr>
              <a:t>En su prefacio al libro de 1984, The UNIX Programming Environment , Brian Kernighan y Rob Pike , ambos de Bell Labs , dan una breve descripción del diseño Unix y la filosofía Unix:</a:t>
            </a:r>
            <a:endParaRPr/>
          </a:p>
          <a:p>
            <a:pPr indent="0" lvl="1" marL="457200" rtl="0" algn="l">
              <a:lnSpc>
                <a:spcPct val="90000"/>
              </a:lnSpc>
              <a:spcBef>
                <a:spcPts val="500"/>
              </a:spcBef>
              <a:spcAft>
                <a:spcPts val="0"/>
              </a:spcAft>
              <a:buClr>
                <a:schemeClr val="lt1"/>
              </a:buClr>
              <a:buSzPct val="100000"/>
              <a:buNone/>
            </a:pPr>
            <a:r>
              <a:rPr i="1" lang="es-ES" sz="2400">
                <a:solidFill>
                  <a:schemeClr val="lt1"/>
                </a:solidFill>
              </a:rPr>
              <a:t>Aunque el sistema UNIX introduce una serie de programas y técnicas innovadoras, ningún programa o idea individual lo hace funcionar bien. En cambio, lo que lo hace efectivo es el enfoque de la programación, una filosofía de uso de la computadora. Aunque esa filosofía no se puede escribir en una sola oración, en el fondo está la idea de que el poder de un sistema proviene más de las relaciones entre programas que de los programas mismos. Muchos programas de UNIX hacen cosas bastante triviales de forma aislada, pero, combinados con otros programas, se convierten en herramientas generales y útiles.</a:t>
            </a:r>
            <a:endParaRPr sz="2800">
              <a:solidFill>
                <a:schemeClr val="lt1"/>
              </a:solidFill>
            </a:endParaRPr>
          </a:p>
          <a:p>
            <a:pPr indent="-342900" lvl="0" marL="342900" rtl="0" algn="l">
              <a:lnSpc>
                <a:spcPct val="90000"/>
              </a:lnSpc>
              <a:spcBef>
                <a:spcPts val="1000"/>
              </a:spcBef>
              <a:spcAft>
                <a:spcPts val="0"/>
              </a:spcAft>
              <a:buClr>
                <a:schemeClr val="lt1"/>
              </a:buClr>
              <a:buSzPct val="100000"/>
              <a:buFont typeface="Arial"/>
              <a:buChar char="•"/>
            </a:pPr>
            <a:r>
              <a:rPr lang="es-ES" sz="2800">
                <a:solidFill>
                  <a:schemeClr val="lt1"/>
                </a:solidFill>
              </a:rPr>
              <a:t>Los autores escriben además que su objetivo para este libro es "comunicar la filosofía de programación de UNIX"..</a:t>
            </a:r>
            <a:endParaRPr sz="2400">
              <a:solidFill>
                <a:schemeClr val="lt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0" name="Shape 130"/>
        <p:cNvGrpSpPr/>
        <p:nvPr/>
      </p:nvGrpSpPr>
      <p:grpSpPr>
        <a:xfrm>
          <a:off x="0" y="0"/>
          <a:ext cx="0" cy="0"/>
          <a:chOff x="0" y="0"/>
          <a:chExt cx="0" cy="0"/>
        </a:xfrm>
      </p:grpSpPr>
      <p:sp>
        <p:nvSpPr>
          <p:cNvPr id="131" name="Google Shape;131;p8"/>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Diseño de programas en el entorno Unix</a:t>
            </a:r>
            <a:endParaRPr sz="4800">
              <a:solidFill>
                <a:schemeClr val="lt1"/>
              </a:solidFill>
            </a:endParaRPr>
          </a:p>
        </p:txBody>
      </p:sp>
      <p:sp>
        <p:nvSpPr>
          <p:cNvPr id="132" name="Google Shape;132;p8"/>
          <p:cNvSpPr txBox="1"/>
          <p:nvPr>
            <p:ph idx="1" type="subTitle"/>
          </p:nvPr>
        </p:nvSpPr>
        <p:spPr>
          <a:xfrm>
            <a:off x="727788" y="1614194"/>
            <a:ext cx="10795518" cy="4422711"/>
          </a:xfrm>
          <a:prstGeom prst="rect">
            <a:avLst/>
          </a:prstGeom>
          <a:noFill/>
          <a:ln>
            <a:noFill/>
          </a:ln>
        </p:spPr>
        <p:txBody>
          <a:bodyPr anchorCtr="0" anchor="t" bIns="45700" lIns="91425" spcFirstLastPara="1" rIns="91425" wrap="square" tIns="45700">
            <a:normAutofit fontScale="85000" lnSpcReduction="20000"/>
          </a:bodyPr>
          <a:lstStyle/>
          <a:p>
            <a:pPr indent="-342900" lvl="0" marL="342900" rtl="0" algn="l">
              <a:lnSpc>
                <a:spcPct val="90000"/>
              </a:lnSpc>
              <a:spcBef>
                <a:spcPts val="0"/>
              </a:spcBef>
              <a:spcAft>
                <a:spcPts val="0"/>
              </a:spcAft>
              <a:buClr>
                <a:schemeClr val="lt1"/>
              </a:buClr>
              <a:buSzPct val="100000"/>
              <a:buFont typeface="Arial"/>
              <a:buChar char="•"/>
            </a:pPr>
            <a:r>
              <a:rPr lang="es-ES" sz="3000">
                <a:solidFill>
                  <a:schemeClr val="lt1"/>
                </a:solidFill>
              </a:rPr>
              <a:t>En octubre de 1984, Brian Kernighan y Rob Pike publicaron un artículo titulado Diseño de programas en el entorno UNIX . En este artículo, critican la acumulación de opciones y características de programas que se encuentran en algunos sistemas Unix más nuevos, como 4.2BSD y System V , y explican la filosofía Unix de herramientas de software, cada una de las cuales realiza una función general:</a:t>
            </a:r>
            <a:endParaRPr/>
          </a:p>
          <a:p>
            <a:pPr indent="0" lvl="1" marL="457200" rtl="0" algn="l">
              <a:lnSpc>
                <a:spcPct val="90000"/>
              </a:lnSpc>
              <a:spcBef>
                <a:spcPts val="500"/>
              </a:spcBef>
              <a:spcAft>
                <a:spcPts val="0"/>
              </a:spcAft>
              <a:buClr>
                <a:schemeClr val="lt1"/>
              </a:buClr>
              <a:buSzPct val="100000"/>
              <a:buNone/>
            </a:pPr>
            <a:r>
              <a:rPr i="1" lang="es-ES" sz="2800">
                <a:solidFill>
                  <a:schemeClr val="lt1"/>
                </a:solidFill>
              </a:rPr>
              <a:t>Gran parte del poder del sistema operativo UNIX proviene de un estilo de diseño de programas que hace que los programas sean fáciles de usar y, lo que es más importante, fáciles de combinar con otros programas. Este estilo se ha denominado uso de herramientas de software y depende más de cómo encajan los programas en el entorno de programación y de cómo se pueden usar con otros programas que de cómo se diseñan internamente. [...] Este estilo se basó en el uso de herramientas : usar programas por separado o en combinación para hacer un trabajo, en lugar de hacerlo a mano, mediante subsistemas monolíticos autosuficientes, o con un propósito especial, una sola vez programas.</a:t>
            </a:r>
            <a:endParaRPr i="1" sz="1900">
              <a:solidFill>
                <a:schemeClr val="lt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6" name="Shape 136"/>
        <p:cNvGrpSpPr/>
        <p:nvPr/>
      </p:nvGrpSpPr>
      <p:grpSpPr>
        <a:xfrm>
          <a:off x="0" y="0"/>
          <a:ext cx="0" cy="0"/>
          <a:chOff x="0" y="0"/>
          <a:chExt cx="0" cy="0"/>
        </a:xfrm>
      </p:grpSpPr>
      <p:sp>
        <p:nvSpPr>
          <p:cNvPr id="137" name="Google Shape;137;p9"/>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Diseño de programas en el entorno Unix</a:t>
            </a:r>
            <a:endParaRPr sz="4800">
              <a:solidFill>
                <a:schemeClr val="lt1"/>
              </a:solidFill>
            </a:endParaRPr>
          </a:p>
        </p:txBody>
      </p:sp>
      <p:sp>
        <p:nvSpPr>
          <p:cNvPr id="138" name="Google Shape;138;p9"/>
          <p:cNvSpPr txBox="1"/>
          <p:nvPr>
            <p:ph idx="1" type="subTitle"/>
          </p:nvPr>
        </p:nvSpPr>
        <p:spPr>
          <a:xfrm>
            <a:off x="727788" y="1614194"/>
            <a:ext cx="10795518" cy="4422711"/>
          </a:xfrm>
          <a:prstGeom prst="rect">
            <a:avLst/>
          </a:prstGeom>
          <a:noFill/>
          <a:ln>
            <a:noFill/>
          </a:ln>
        </p:spPr>
        <p:txBody>
          <a:bodyPr anchorCtr="0" anchor="t" bIns="45700" lIns="91425" spcFirstLastPara="1" rIns="91425" wrap="square" tIns="45700">
            <a:normAutofit fontScale="92500"/>
          </a:bodyPr>
          <a:lstStyle/>
          <a:p>
            <a:pPr indent="-342900" lvl="0" marL="342900" rtl="0" algn="l">
              <a:lnSpc>
                <a:spcPct val="90000"/>
              </a:lnSpc>
              <a:spcBef>
                <a:spcPts val="0"/>
              </a:spcBef>
              <a:spcAft>
                <a:spcPts val="0"/>
              </a:spcAft>
              <a:buClr>
                <a:schemeClr val="lt1"/>
              </a:buClr>
              <a:buSzPct val="100000"/>
              <a:buFont typeface="Arial"/>
              <a:buChar char="•"/>
            </a:pPr>
            <a:r>
              <a:rPr lang="es-ES" sz="3000">
                <a:solidFill>
                  <a:schemeClr val="lt1"/>
                </a:solidFill>
              </a:rPr>
              <a:t>Los autores contrastan las herramientas de Unix, como cat , con conjuntos de programas más grandes utilizados por otros sistemas.</a:t>
            </a:r>
            <a:endParaRPr/>
          </a:p>
          <a:p>
            <a:pPr indent="0" lvl="1" marL="457200" rtl="0" algn="l">
              <a:lnSpc>
                <a:spcPct val="90000"/>
              </a:lnSpc>
              <a:spcBef>
                <a:spcPts val="500"/>
              </a:spcBef>
              <a:spcAft>
                <a:spcPts val="0"/>
              </a:spcAft>
              <a:buClr>
                <a:schemeClr val="lt1"/>
              </a:buClr>
              <a:buSzPct val="100000"/>
              <a:buNone/>
            </a:pPr>
            <a:r>
              <a:rPr i="1" lang="es-ES" sz="2600">
                <a:solidFill>
                  <a:schemeClr val="lt1"/>
                </a:solidFill>
              </a:rPr>
              <a:t>El diseño de cat es típico de la mayoría de los programas de UNIX: implementa una función simple pero general que se puede usar en muchas aplicaciones diferentes (incluidas muchas no previstas por el autor original). Otros comandos se utilizan para otras funciones. Por ejemplo, existen comandos separados para las tareas del sistema de archivos, como cambiar el nombre de los archivos, eliminarlos o indicar su tamaño.</a:t>
            </a:r>
            <a:endParaRPr/>
          </a:p>
          <a:p>
            <a:pPr indent="0" lvl="1" marL="457200" rtl="0" algn="l">
              <a:lnSpc>
                <a:spcPct val="90000"/>
              </a:lnSpc>
              <a:spcBef>
                <a:spcPts val="500"/>
              </a:spcBef>
              <a:spcAft>
                <a:spcPts val="0"/>
              </a:spcAft>
              <a:buClr>
                <a:schemeClr val="lt1"/>
              </a:buClr>
              <a:buSzPct val="100000"/>
              <a:buNone/>
            </a:pPr>
            <a:r>
              <a:rPr i="1" lang="es-ES" sz="2600">
                <a:solidFill>
                  <a:schemeClr val="lt1"/>
                </a:solidFill>
              </a:rPr>
              <a:t>En cambio, otros sistemas los agrupan en un solo comando de "sistema de archivos" con una estructura interna y un lenguaje de comandos propios. Ese enfoque no es necesariamente peor o mejor, pero ciertamente va en contra de la filosofía UNIX.</a:t>
            </a:r>
            <a:endParaRPr i="1" sz="2600">
              <a:solidFill>
                <a:schemeClr val="lt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2" name="Shape 142"/>
        <p:cNvGrpSpPr/>
        <p:nvPr/>
      </p:nvGrpSpPr>
      <p:grpSpPr>
        <a:xfrm>
          <a:off x="0" y="0"/>
          <a:ext cx="0" cy="0"/>
          <a:chOff x="0" y="0"/>
          <a:chExt cx="0" cy="0"/>
        </a:xfrm>
      </p:grpSpPr>
      <p:sp>
        <p:nvSpPr>
          <p:cNvPr id="143" name="Google Shape;143;p10"/>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Doug McIlroy sobre la programación Unix</a:t>
            </a:r>
            <a:endParaRPr sz="4800">
              <a:solidFill>
                <a:schemeClr val="lt1"/>
              </a:solidFill>
            </a:endParaRPr>
          </a:p>
        </p:txBody>
      </p:sp>
      <p:sp>
        <p:nvSpPr>
          <p:cNvPr id="144" name="Google Shape;144;p10"/>
          <p:cNvSpPr txBox="1"/>
          <p:nvPr>
            <p:ph idx="1" type="subTitle"/>
          </p:nvPr>
        </p:nvSpPr>
        <p:spPr>
          <a:xfrm>
            <a:off x="727788" y="1614194"/>
            <a:ext cx="10795518" cy="4422711"/>
          </a:xfrm>
          <a:prstGeom prst="rect">
            <a:avLst/>
          </a:prstGeom>
          <a:noFill/>
          <a:ln>
            <a:noFill/>
          </a:ln>
        </p:spPr>
        <p:txBody>
          <a:bodyPr anchorCtr="0" anchor="t" bIns="45700" lIns="91425" spcFirstLastPara="1" rIns="91425" wrap="square" tIns="45700">
            <a:normAutofit/>
          </a:bodyPr>
          <a:lstStyle/>
          <a:p>
            <a:pPr indent="-342900" lvl="0" marL="342900" rtl="0" algn="l">
              <a:lnSpc>
                <a:spcPct val="90000"/>
              </a:lnSpc>
              <a:spcBef>
                <a:spcPts val="0"/>
              </a:spcBef>
              <a:spcAft>
                <a:spcPts val="0"/>
              </a:spcAft>
              <a:buClr>
                <a:schemeClr val="lt1"/>
              </a:buClr>
              <a:buSzPts val="2600"/>
              <a:buFont typeface="Arial"/>
              <a:buChar char="•"/>
            </a:pPr>
            <a:r>
              <a:rPr i="1" lang="es-ES" sz="2600">
                <a:solidFill>
                  <a:schemeClr val="lt1"/>
                </a:solidFill>
              </a:rPr>
              <a:t>Doug McIlroy , entonces director del Centro de Investigación de Ciencias de la Computación de Bell Labs e inventor de la tubería (pipes) Unix , resumió la filosofía Unix de la siguiente manera:</a:t>
            </a:r>
            <a:endParaRPr/>
          </a:p>
          <a:p>
            <a:pPr indent="-342900" lvl="1" marL="800100" rtl="0" algn="l">
              <a:lnSpc>
                <a:spcPct val="90000"/>
              </a:lnSpc>
              <a:spcBef>
                <a:spcPts val="500"/>
              </a:spcBef>
              <a:spcAft>
                <a:spcPts val="0"/>
              </a:spcAft>
              <a:buClr>
                <a:schemeClr val="lt1"/>
              </a:buClr>
              <a:buSzPts val="2200"/>
              <a:buFont typeface="Arial"/>
              <a:buChar char="•"/>
            </a:pPr>
            <a:r>
              <a:rPr i="1" lang="es-ES" sz="2200">
                <a:solidFill>
                  <a:schemeClr val="lt1"/>
                </a:solidFill>
              </a:rPr>
              <a:t>Esta es la filosofía de Unix: escriba programas que hagan una cosa y la hagan bien. Escriba programas para trabajar juntos. Escriba programas para manejar flujos de texto , porque es una interfaz universal.</a:t>
            </a:r>
            <a:endParaRPr i="1" sz="2600">
              <a:solidFill>
                <a:schemeClr val="lt1"/>
              </a:solidFill>
            </a:endParaRPr>
          </a:p>
          <a:p>
            <a:pPr indent="-342900" lvl="0" marL="342900" rtl="0" algn="l">
              <a:lnSpc>
                <a:spcPct val="90000"/>
              </a:lnSpc>
              <a:spcBef>
                <a:spcPts val="1000"/>
              </a:spcBef>
              <a:spcAft>
                <a:spcPts val="0"/>
              </a:spcAft>
              <a:buClr>
                <a:schemeClr val="lt1"/>
              </a:buClr>
              <a:buSzPts val="2600"/>
              <a:buFont typeface="Arial"/>
              <a:buChar char="•"/>
            </a:pPr>
            <a:r>
              <a:rPr i="1" lang="es-ES" sz="2600">
                <a:solidFill>
                  <a:schemeClr val="lt1"/>
                </a:solidFill>
              </a:rPr>
              <a:t>Más allá de estas declaraciones, también ha enfatizado la simplicidad y el minimalismo en la programación Unix: </a:t>
            </a:r>
            <a:endParaRPr/>
          </a:p>
          <a:p>
            <a:pPr indent="-342900" lvl="1" marL="800100" rtl="0" algn="l">
              <a:lnSpc>
                <a:spcPct val="90000"/>
              </a:lnSpc>
              <a:spcBef>
                <a:spcPts val="500"/>
              </a:spcBef>
              <a:spcAft>
                <a:spcPts val="0"/>
              </a:spcAft>
              <a:buClr>
                <a:schemeClr val="lt1"/>
              </a:buClr>
              <a:buSzPts val="2200"/>
              <a:buFont typeface="Arial"/>
              <a:buChar char="•"/>
            </a:pPr>
            <a:r>
              <a:rPr i="1" lang="es-ES" sz="2200">
                <a:solidFill>
                  <a:schemeClr val="lt1"/>
                </a:solidFill>
              </a:rPr>
              <a:t>La noción de "complejidades intrincadas y hermosas" es casi un oxímoron. Los programadores de Unix compiten entre sí por los honores "simples y hermosos", un punto que está implícito en estas reglas, pero que vale la pena dejarlo claro.</a:t>
            </a:r>
            <a:endParaRPr i="1" sz="2200">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8" name="Shape 148"/>
        <p:cNvGrpSpPr/>
        <p:nvPr/>
      </p:nvGrpSpPr>
      <p:grpSpPr>
        <a:xfrm>
          <a:off x="0" y="0"/>
          <a:ext cx="0" cy="0"/>
          <a:chOff x="0" y="0"/>
          <a:chExt cx="0" cy="0"/>
        </a:xfrm>
      </p:grpSpPr>
      <p:sp>
        <p:nvSpPr>
          <p:cNvPr id="149" name="Google Shape;149;p11"/>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Haz una cosa y hazla bien</a:t>
            </a:r>
            <a:endParaRPr sz="4800">
              <a:solidFill>
                <a:schemeClr val="lt1"/>
              </a:solidFill>
            </a:endParaRPr>
          </a:p>
        </p:txBody>
      </p:sp>
      <p:sp>
        <p:nvSpPr>
          <p:cNvPr id="150" name="Google Shape;150;p11"/>
          <p:cNvSpPr txBox="1"/>
          <p:nvPr>
            <p:ph idx="1" type="subTitle"/>
          </p:nvPr>
        </p:nvSpPr>
        <p:spPr>
          <a:xfrm>
            <a:off x="681136" y="1614194"/>
            <a:ext cx="10795518" cy="4385390"/>
          </a:xfrm>
          <a:prstGeom prst="rect">
            <a:avLst/>
          </a:prstGeom>
          <a:noFill/>
          <a:ln>
            <a:noFill/>
          </a:ln>
        </p:spPr>
        <p:txBody>
          <a:bodyPr anchorCtr="0" anchor="t" bIns="45700" lIns="91425" spcFirstLastPara="1" rIns="91425" wrap="square" tIns="45700">
            <a:normAutofit lnSpcReduction="10000"/>
          </a:bodyPr>
          <a:lstStyle/>
          <a:p>
            <a:pPr indent="-342900" lvl="0" marL="342900" rtl="0" algn="l">
              <a:lnSpc>
                <a:spcPct val="90000"/>
              </a:lnSpc>
              <a:spcBef>
                <a:spcPts val="0"/>
              </a:spcBef>
              <a:spcAft>
                <a:spcPts val="0"/>
              </a:spcAft>
              <a:buClr>
                <a:schemeClr val="lt1"/>
              </a:buClr>
              <a:buSzPts val="2800"/>
              <a:buFont typeface="Arial"/>
              <a:buChar char="•"/>
            </a:pPr>
            <a:r>
              <a:rPr i="1" lang="es-ES" sz="2800">
                <a:solidFill>
                  <a:schemeClr val="lt1"/>
                </a:solidFill>
              </a:rPr>
              <a:t>Como afirma McIlroy, y generalmente aceptado en toda la comunidad Unix, siempre se ha esperado que los programas Unix sigan el concepto de DOTADIW ("Do One Thing And Do It Well."), o "Haz una cosa y hazlo bien". Hay fuentes limitadas para el acrónimo DOTADIW en Internet, pero se discute extensamente durante el desarrollo y empaquetado de nuevos sistemas operativos, especialmente en la comunidad Linux.</a:t>
            </a:r>
            <a:endParaRPr/>
          </a:p>
          <a:p>
            <a:pPr indent="-342900" lvl="0" marL="342900" rtl="0" algn="l">
              <a:lnSpc>
                <a:spcPct val="90000"/>
              </a:lnSpc>
              <a:spcBef>
                <a:spcPts val="1000"/>
              </a:spcBef>
              <a:spcAft>
                <a:spcPts val="0"/>
              </a:spcAft>
              <a:buClr>
                <a:schemeClr val="lt1"/>
              </a:buClr>
              <a:buSzPts val="2800"/>
              <a:buFont typeface="Arial"/>
              <a:buChar char="•"/>
            </a:pPr>
            <a:r>
              <a:rPr i="1" lang="es-ES" sz="2800">
                <a:solidFill>
                  <a:schemeClr val="lt1"/>
                </a:solidFill>
              </a:rPr>
              <a:t>Patrick Volkerding , el líder del proyecto de Slackware Linux , invocó este principio de diseño en una crítica de la arquitectura systemd , afirmando que, "intentar controlar servicios, sockets, dispositivos, montajes, etc., todo dentro de un demonio va en contra de la Concepto de Unix de hacer una cosa y hacerlo bien ".</a:t>
            </a:r>
            <a:endParaRPr i="1" sz="2800">
              <a:solidFill>
                <a:schemeClr val="lt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4" name="Shape 154"/>
        <p:cNvGrpSpPr/>
        <p:nvPr/>
      </p:nvGrpSpPr>
      <p:grpSpPr>
        <a:xfrm>
          <a:off x="0" y="0"/>
          <a:ext cx="0" cy="0"/>
          <a:chOff x="0" y="0"/>
          <a:chExt cx="0" cy="0"/>
        </a:xfrm>
      </p:grpSpPr>
      <p:sp>
        <p:nvSpPr>
          <p:cNvPr id="155" name="Google Shape;155;p12"/>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Las 17 reglas de Unix de Eric Raymond</a:t>
            </a:r>
            <a:endParaRPr sz="4800">
              <a:solidFill>
                <a:schemeClr val="lt1"/>
              </a:solidFill>
            </a:endParaRPr>
          </a:p>
        </p:txBody>
      </p:sp>
      <p:sp>
        <p:nvSpPr>
          <p:cNvPr id="156" name="Google Shape;156;p12"/>
          <p:cNvSpPr txBox="1"/>
          <p:nvPr>
            <p:ph idx="1" type="subTitle"/>
          </p:nvPr>
        </p:nvSpPr>
        <p:spPr>
          <a:xfrm>
            <a:off x="681136" y="1614194"/>
            <a:ext cx="10795518" cy="4385390"/>
          </a:xfrm>
          <a:prstGeom prst="rect">
            <a:avLst/>
          </a:prstGeom>
          <a:noFill/>
          <a:ln>
            <a:noFill/>
          </a:ln>
        </p:spPr>
        <p:txBody>
          <a:bodyPr anchorCtr="0" anchor="t" bIns="45700" lIns="91425" spcFirstLastPara="1" rIns="91425" wrap="square" tIns="45700">
            <a:normAutofit fontScale="92500" lnSpcReduction="10000"/>
          </a:bodyPr>
          <a:lstStyle/>
          <a:p>
            <a:pPr indent="-342900" lvl="0" marL="342900" rtl="0" algn="l">
              <a:lnSpc>
                <a:spcPct val="90000"/>
              </a:lnSpc>
              <a:spcBef>
                <a:spcPts val="0"/>
              </a:spcBef>
              <a:spcAft>
                <a:spcPts val="0"/>
              </a:spcAft>
              <a:buClr>
                <a:schemeClr val="lt1"/>
              </a:buClr>
              <a:buSzPct val="100000"/>
              <a:buFont typeface="Arial"/>
              <a:buChar char="•"/>
            </a:pPr>
            <a:r>
              <a:rPr i="1" lang="es-ES" sz="2800">
                <a:solidFill>
                  <a:schemeClr val="lt1"/>
                </a:solidFill>
              </a:rPr>
              <a:t>En su libro “The Art of Unix Programming” </a:t>
            </a:r>
            <a:r>
              <a:rPr i="1" lang="es-ES" sz="2800" u="sng">
                <a:solidFill>
                  <a:schemeClr val="lt1"/>
                </a:solidFill>
                <a:hlinkClick r:id="rId4">
                  <a:extLst>
                    <a:ext uri="{A12FA001-AC4F-418D-AE19-62706E023703}">
                      <ahyp:hlinkClr val="tx"/>
                    </a:ext>
                  </a:extLst>
                </a:hlinkClick>
              </a:rPr>
              <a:t>http://www.catb.org/~esr/writings/taoup/html/</a:t>
            </a:r>
            <a:r>
              <a:rPr i="1" lang="es-ES" sz="2800">
                <a:solidFill>
                  <a:schemeClr val="lt1"/>
                </a:solidFill>
              </a:rPr>
              <a:t> que se publicó por primera vez en 2003, Eric S. Raymond , un programador estadounidense y defensor del código abierto, resume la filosofía Unix como el principio KISS de "Keep it Simple, Stupid". Proporciona una serie de reglas de diseño: </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Cree programas modulares</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Escribe programas legibles</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Usar composición</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Separar los mecanismos de la política</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Escribe programas simples</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Escribe pequeños programas</a:t>
            </a:r>
            <a:endParaRPr/>
          </a:p>
          <a:p>
            <a:pPr indent="-514350" lvl="1" marL="971550" rtl="0" algn="l">
              <a:lnSpc>
                <a:spcPct val="90000"/>
              </a:lnSpc>
              <a:spcBef>
                <a:spcPts val="500"/>
              </a:spcBef>
              <a:spcAft>
                <a:spcPts val="0"/>
              </a:spcAft>
              <a:buClr>
                <a:schemeClr val="lt1"/>
              </a:buClr>
              <a:buSzPct val="100000"/>
              <a:buFont typeface="Calibri"/>
              <a:buAutoNum type="arabicPeriod"/>
            </a:pPr>
            <a:r>
              <a:rPr i="1" lang="es-ES" sz="2600">
                <a:solidFill>
                  <a:schemeClr val="lt1"/>
                </a:solidFill>
              </a:rPr>
              <a:t>Escribe programas transparentes</a:t>
            </a:r>
            <a:endParaRPr/>
          </a:p>
          <a:p>
            <a:pPr indent="-349885" lvl="0" marL="514350" rtl="0" algn="l">
              <a:lnSpc>
                <a:spcPct val="90000"/>
              </a:lnSpc>
              <a:spcBef>
                <a:spcPts val="1000"/>
              </a:spcBef>
              <a:spcAft>
                <a:spcPts val="0"/>
              </a:spcAft>
              <a:buClr>
                <a:schemeClr val="dk1"/>
              </a:buClr>
              <a:buSzPct val="100000"/>
              <a:buFont typeface="Calibri"/>
              <a:buNone/>
            </a:pPr>
            <a:r>
              <a:t/>
            </a:r>
            <a:endParaRPr i="1" sz="2800">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0" name="Shape 160"/>
        <p:cNvGrpSpPr/>
        <p:nvPr/>
      </p:nvGrpSpPr>
      <p:grpSpPr>
        <a:xfrm>
          <a:off x="0" y="0"/>
          <a:ext cx="0" cy="0"/>
          <a:chOff x="0" y="0"/>
          <a:chExt cx="0" cy="0"/>
        </a:xfrm>
      </p:grpSpPr>
      <p:sp>
        <p:nvSpPr>
          <p:cNvPr id="161" name="Google Shape;161;p13"/>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Las 17 reglas de Unix de Eric Raymond</a:t>
            </a:r>
            <a:endParaRPr sz="4800">
              <a:solidFill>
                <a:schemeClr val="lt1"/>
              </a:solidFill>
            </a:endParaRPr>
          </a:p>
        </p:txBody>
      </p:sp>
      <p:sp>
        <p:nvSpPr>
          <p:cNvPr id="162" name="Google Shape;162;p13"/>
          <p:cNvSpPr txBox="1"/>
          <p:nvPr>
            <p:ph idx="1" type="subTitle"/>
          </p:nvPr>
        </p:nvSpPr>
        <p:spPr>
          <a:xfrm>
            <a:off x="674915" y="1492896"/>
            <a:ext cx="10842170" cy="436672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t/>
            </a:r>
            <a:endParaRPr i="1" sz="2800">
              <a:solidFill>
                <a:schemeClr val="lt1"/>
              </a:solidFill>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Escribe programas robustos</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Haga que los datos sean complicados cuando sea necesario, no el programa</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Aprovechar el conocimiento esperado de los usuarios potenciales</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Evite la salida innecesaria</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Escriba programas que fallan de una manera que sea fácil de diagnosticar.</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Valorar el tiempo del desarrollador sobre el tiempo de la máquina</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Escriba programas abstractos que generen código en lugar de escribir código a mano</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Prototipo de software antes de pulirlo</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Escribe programas flexibles y abiertos</a:t>
            </a:r>
            <a:endParaRPr/>
          </a:p>
          <a:p>
            <a:pPr indent="-514350" lvl="0" marL="514350" rtl="0" algn="l">
              <a:lnSpc>
                <a:spcPct val="90000"/>
              </a:lnSpc>
              <a:spcBef>
                <a:spcPts val="1000"/>
              </a:spcBef>
              <a:spcAft>
                <a:spcPts val="0"/>
              </a:spcAft>
              <a:buClr>
                <a:schemeClr val="lt1"/>
              </a:buClr>
              <a:buSzPct val="100000"/>
              <a:buFont typeface="Calibri"/>
              <a:buAutoNum type="arabicPeriod" startAt="8"/>
            </a:pPr>
            <a:r>
              <a:rPr i="1" lang="es-ES" sz="4400">
                <a:solidFill>
                  <a:schemeClr val="lt1"/>
                </a:solidFill>
              </a:rPr>
              <a:t>Haz que el programa y los protocolos sean extensibles.</a:t>
            </a:r>
            <a:endParaRPr i="1" sz="4400">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6" name="Shape 166"/>
        <p:cNvGrpSpPr/>
        <p:nvPr/>
      </p:nvGrpSpPr>
      <p:grpSpPr>
        <a:xfrm>
          <a:off x="0" y="0"/>
          <a:ext cx="0" cy="0"/>
          <a:chOff x="0" y="0"/>
          <a:chExt cx="0" cy="0"/>
        </a:xfrm>
      </p:grpSpPr>
      <p:sp>
        <p:nvSpPr>
          <p:cNvPr id="167" name="Google Shape;167;p14"/>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Mike Gancarz: La filosofía Unix</a:t>
            </a:r>
            <a:endParaRPr sz="4800">
              <a:solidFill>
                <a:schemeClr val="lt1"/>
              </a:solidFill>
            </a:endParaRPr>
          </a:p>
        </p:txBody>
      </p:sp>
      <p:sp>
        <p:nvSpPr>
          <p:cNvPr id="168" name="Google Shape;168;p14"/>
          <p:cNvSpPr txBox="1"/>
          <p:nvPr>
            <p:ph idx="1" type="subTitle"/>
          </p:nvPr>
        </p:nvSpPr>
        <p:spPr>
          <a:xfrm>
            <a:off x="419878" y="1492895"/>
            <a:ext cx="11028783" cy="3956183"/>
          </a:xfrm>
          <a:prstGeom prst="rect">
            <a:avLst/>
          </a:prstGeom>
          <a:noFill/>
          <a:ln>
            <a:noFill/>
          </a:ln>
        </p:spPr>
        <p:txBody>
          <a:bodyPr anchorCtr="0" anchor="t" bIns="45700" lIns="91425" spcFirstLastPara="1" rIns="91425" wrap="square" tIns="45700">
            <a:normAutofit fontScale="40000" lnSpcReduction="20000"/>
          </a:bodyPr>
          <a:lstStyle/>
          <a:p>
            <a:pPr indent="0" lvl="0" marL="0" rtl="0" algn="l">
              <a:lnSpc>
                <a:spcPct val="90000"/>
              </a:lnSpc>
              <a:spcBef>
                <a:spcPts val="0"/>
              </a:spcBef>
              <a:spcAft>
                <a:spcPts val="0"/>
              </a:spcAft>
              <a:buClr>
                <a:schemeClr val="lt1"/>
              </a:buClr>
              <a:buSzPct val="100000"/>
              <a:buNone/>
            </a:pPr>
            <a:r>
              <a:rPr i="1" lang="es-ES" sz="5000">
                <a:solidFill>
                  <a:schemeClr val="lt1"/>
                </a:solidFill>
              </a:rPr>
              <a:t>En 1994, Mike Gancarz (miembro del equipo que diseñó el sistema X Window ), se basó en su propia experiencia con Unix, así como en las discusiones con otros programadores y personas de otros campos que dependían de Unix, para producir La filosofía Unix que lo resume en nueve preceptos primordiales:</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Lo pequeño es hermoso.</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Haga que cada programa haga bien una cosa.</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Construye un prototipo lo antes posible.</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Elija la portabilidad sobre la eficiencia.</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Almacene datos en archivos de texto plano .</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Utilice el apalancamiento del software a su favor (reutilizar codigo).</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Utilice scripts de shell para aumentar el apalancamiento y la portabilidad.</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Evite las interfaces de usuario cautivas.</a:t>
            </a:r>
            <a:endParaRPr/>
          </a:p>
          <a:p>
            <a:pPr indent="-457200" lvl="0" marL="457200" rtl="0" algn="l">
              <a:lnSpc>
                <a:spcPct val="90000"/>
              </a:lnSpc>
              <a:spcBef>
                <a:spcPts val="1000"/>
              </a:spcBef>
              <a:spcAft>
                <a:spcPts val="0"/>
              </a:spcAft>
              <a:buClr>
                <a:schemeClr val="lt1"/>
              </a:buClr>
              <a:buSzPct val="100000"/>
              <a:buFont typeface="Arial"/>
              <a:buChar char="•"/>
            </a:pPr>
            <a:r>
              <a:rPr i="1" lang="es-ES" sz="5100">
                <a:solidFill>
                  <a:schemeClr val="lt1"/>
                </a:solidFill>
              </a:rPr>
              <a:t>Haga de cada programa un filtro (procesar un stream para producir otro stream en una pipeline)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2" name="Shape 172"/>
        <p:cNvGrpSpPr/>
        <p:nvPr/>
      </p:nvGrpSpPr>
      <p:grpSpPr>
        <a:xfrm>
          <a:off x="0" y="0"/>
          <a:ext cx="0" cy="0"/>
          <a:chOff x="0" y="0"/>
          <a:chExt cx="0" cy="0"/>
        </a:xfrm>
      </p:grpSpPr>
      <p:sp>
        <p:nvSpPr>
          <p:cNvPr id="173" name="Google Shape;173;p15"/>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"Peor es mejor"</a:t>
            </a:r>
            <a:endParaRPr/>
          </a:p>
        </p:txBody>
      </p:sp>
      <p:sp>
        <p:nvSpPr>
          <p:cNvPr id="174" name="Google Shape;174;p15"/>
          <p:cNvSpPr txBox="1"/>
          <p:nvPr>
            <p:ph idx="1" type="subTitle"/>
          </p:nvPr>
        </p:nvSpPr>
        <p:spPr>
          <a:xfrm>
            <a:off x="466531" y="1735491"/>
            <a:ext cx="11028783" cy="3956183"/>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lt1"/>
              </a:buClr>
              <a:buSzPts val="2800"/>
              <a:buNone/>
            </a:pPr>
            <a:r>
              <a:rPr i="1" lang="es-ES" sz="2800">
                <a:solidFill>
                  <a:schemeClr val="lt1"/>
                </a:solidFill>
              </a:rPr>
              <a:t>Richard P. Gabriel sugiere que una ventaja clave de Unix era que encarnaba una filosofía de diseño que él denominó "peor es mejor", en la que la simplicidad tanto de la interfaz como de la implementación son más importantes que cualquier otro atributo del sistema, incluida la corrección, consistencia e integridad. Gabriel sostiene que este estilo de diseño tiene ventajas evolutivas clave, aunque cuestiona la calidad de algunos resultados.</a:t>
            </a:r>
            <a:endParaRPr/>
          </a:p>
          <a:p>
            <a:pPr indent="0" lvl="0" marL="0" rtl="0" algn="l">
              <a:lnSpc>
                <a:spcPct val="90000"/>
              </a:lnSpc>
              <a:spcBef>
                <a:spcPts val="1000"/>
              </a:spcBef>
              <a:spcAft>
                <a:spcPts val="0"/>
              </a:spcAft>
              <a:buClr>
                <a:schemeClr val="lt1"/>
              </a:buClr>
              <a:buSzPts val="2800"/>
              <a:buNone/>
            </a:pPr>
            <a:r>
              <a:rPr i="1" lang="es-ES" sz="2800">
                <a:solidFill>
                  <a:schemeClr val="lt1"/>
                </a:solidFill>
              </a:rPr>
              <a:t>Los creadores de Unix, Ken Thompson y Dennis Ritchie prefirieron la simplicidad a la perfección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8" name="Shape 178"/>
        <p:cNvGrpSpPr/>
        <p:nvPr/>
      </p:nvGrpSpPr>
      <p:grpSpPr>
        <a:xfrm>
          <a:off x="0" y="0"/>
          <a:ext cx="0" cy="0"/>
          <a:chOff x="0" y="0"/>
          <a:chExt cx="0" cy="0"/>
        </a:xfrm>
      </p:grpSpPr>
      <p:sp>
        <p:nvSpPr>
          <p:cNvPr id="179" name="Google Shape;179;p16"/>
          <p:cNvSpPr txBox="1"/>
          <p:nvPr>
            <p:ph type="ctrTitle"/>
          </p:nvPr>
        </p:nvSpPr>
        <p:spPr>
          <a:xfrm>
            <a:off x="1523999" y="571856"/>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Todo es un archivo</a:t>
            </a:r>
            <a:endParaRPr/>
          </a:p>
        </p:txBody>
      </p:sp>
      <p:sp>
        <p:nvSpPr>
          <p:cNvPr id="180" name="Google Shape;180;p16"/>
          <p:cNvSpPr txBox="1"/>
          <p:nvPr>
            <p:ph idx="1" type="subTitle"/>
          </p:nvPr>
        </p:nvSpPr>
        <p:spPr>
          <a:xfrm>
            <a:off x="466531" y="1735491"/>
            <a:ext cx="11028783" cy="3956183"/>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lt1"/>
              </a:buClr>
              <a:buSzPct val="100000"/>
              <a:buNone/>
            </a:pPr>
            <a:r>
              <a:rPr i="1" lang="es-ES" sz="2800">
                <a:solidFill>
                  <a:schemeClr val="lt1"/>
                </a:solidFill>
              </a:rPr>
              <a:t>"Everything is a file" (Todo es un archivo en español) describe una de las principales características de Unix y sus derivados, que consiste en que casi todos los recursos del sistema, como documentos, directorios, unidades de disco, módems, teclados, impresoras, e incluso algunas comunicaciones de red y de procesos son simples flujos de bits expuestos a través del sistema de archivos Unix.</a:t>
            </a:r>
            <a:endParaRPr/>
          </a:p>
          <a:p>
            <a:pPr indent="0" lvl="0" marL="0" rtl="0" algn="l">
              <a:lnSpc>
                <a:spcPct val="90000"/>
              </a:lnSpc>
              <a:spcBef>
                <a:spcPts val="1000"/>
              </a:spcBef>
              <a:spcAft>
                <a:spcPts val="0"/>
              </a:spcAft>
              <a:buClr>
                <a:schemeClr val="lt1"/>
              </a:buClr>
              <a:buSzPct val="100000"/>
              <a:buNone/>
            </a:pPr>
            <a:r>
              <a:rPr i="1" lang="es-ES" sz="2800">
                <a:solidFill>
                  <a:schemeClr val="lt1"/>
                </a:solidFill>
              </a:rPr>
              <a:t>La ventaja de esta característica es que el mismo conjunto de utilidades y APIs pueden ser usados en una amplia variedad de recursos. Existe un número de tipos de archivos Unix. Cuando un archivo es abierto se crea un descriptor de archivo, la ruta se convierte en el sistema de direccionamiento, y el descriptor en la interfaz des flujo de bytes I/O. Pero los descriptores también se crean para cosas como pipes anónimos y sockets de red de distintas formas, así que sería más correcto decir que "todo es un descriptor de archivo"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4" name="Shape 184"/>
        <p:cNvGrpSpPr/>
        <p:nvPr/>
      </p:nvGrpSpPr>
      <p:grpSpPr>
        <a:xfrm>
          <a:off x="0" y="0"/>
          <a:ext cx="0" cy="0"/>
          <a:chOff x="0" y="0"/>
          <a:chExt cx="0" cy="0"/>
        </a:xfrm>
      </p:grpSpPr>
      <p:sp>
        <p:nvSpPr>
          <p:cNvPr id="185" name="Google Shape;185;p17"/>
          <p:cNvSpPr txBox="1"/>
          <p:nvPr>
            <p:ph type="ctrTitle"/>
          </p:nvPr>
        </p:nvSpPr>
        <p:spPr>
          <a:xfrm>
            <a:off x="1524000" y="245285"/>
            <a:ext cx="9144000" cy="846396"/>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lt1"/>
              </a:buClr>
              <a:buSzPts val="4000"/>
              <a:buFont typeface="Calibri"/>
              <a:buNone/>
            </a:pPr>
            <a:r>
              <a:rPr lang="es-ES" sz="4000">
                <a:solidFill>
                  <a:schemeClr val="lt1"/>
                </a:solidFill>
              </a:rPr>
              <a:t>Todo es un archivo</a:t>
            </a:r>
            <a:endParaRPr/>
          </a:p>
        </p:txBody>
      </p:sp>
      <p:sp>
        <p:nvSpPr>
          <p:cNvPr id="186" name="Google Shape;186;p17"/>
          <p:cNvSpPr txBox="1"/>
          <p:nvPr>
            <p:ph idx="1" type="subTitle"/>
          </p:nvPr>
        </p:nvSpPr>
        <p:spPr>
          <a:xfrm>
            <a:off x="419879" y="1166325"/>
            <a:ext cx="11028783" cy="3956183"/>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lt1"/>
              </a:buClr>
              <a:buSzPts val="2400"/>
              <a:buNone/>
            </a:pPr>
            <a:r>
              <a:rPr i="1" lang="es-ES">
                <a:solidFill>
                  <a:schemeClr val="lt1"/>
                </a:solidFill>
              </a:rPr>
              <a:t>Además, muchos sistemas de archivos exponen información sobre los procesos y el sistema en una estructura jerárquica a modo de archivos. Estos son montados dentro del sistema de archivos jerárquico. Un ejemplo de este sistema de archivos puramente virtual se encuentra dentro del directorio /proc, que expone varias propiedades del sistema e información de procesos como archivos.</a:t>
            </a:r>
            <a:endParaRPr/>
          </a:p>
          <a:p>
            <a:pPr indent="0" lvl="0" marL="0" rtl="0" algn="l">
              <a:lnSpc>
                <a:spcPct val="90000"/>
              </a:lnSpc>
              <a:spcBef>
                <a:spcPts val="1000"/>
              </a:spcBef>
              <a:spcAft>
                <a:spcPts val="0"/>
              </a:spcAft>
              <a:buClr>
                <a:schemeClr val="lt1"/>
              </a:buClr>
              <a:buSzPts val="2400"/>
              <a:buNone/>
            </a:pPr>
            <a:r>
              <a:rPr i="1" lang="es-ES">
                <a:solidFill>
                  <a:schemeClr val="lt1"/>
                </a:solidFill>
              </a:rPr>
              <a:t>Todos esos "archivos" poseen los atributos estándar de Unix como propietario y permisos de acceso, y pueden ser consultados con las mismas herramientas Unix clásicas y filtros. Sin embargo, esto no es universalmente considerado una alternativa portable o rápida. Algunos sistemas operativos no montan /proc de manera predeterminada debido a razones de seguridad o rapidez. Aunque esto es ampliamente practicado tanto en BusyBox, ampliamente usado en sistemas empotrados y por procps, usado en casi todos los sistemas GNU/Linux. En ambos casos esto es usado en implementaciones de los procesos relacionados con los comandos del shell de POSIX. Es usado también de manera similar en los sistemas Android en el programa Toolbox</a:t>
            </a:r>
            <a:endParaRPr i="1">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1" name="Shape 191"/>
        <p:cNvGrpSpPr/>
        <p:nvPr/>
      </p:nvGrpSpPr>
      <p:grpSpPr>
        <a:xfrm>
          <a:off x="0" y="0"/>
          <a:ext cx="0" cy="0"/>
          <a:chOff x="0" y="0"/>
          <a:chExt cx="0" cy="0"/>
        </a:xfrm>
      </p:grpSpPr>
      <p:sp>
        <p:nvSpPr>
          <p:cNvPr id="192" name="Google Shape;192;p18"/>
          <p:cNvSpPr txBox="1"/>
          <p:nvPr>
            <p:ph idx="1" type="body"/>
          </p:nvPr>
        </p:nvSpPr>
        <p:spPr>
          <a:xfrm>
            <a:off x="3741964" y="2908243"/>
            <a:ext cx="5012872" cy="1041513"/>
          </a:xfrm>
          <a:prstGeom prst="rect">
            <a:avLst/>
          </a:prstGeom>
          <a:noFill/>
          <a:ln>
            <a:noFill/>
          </a:ln>
        </p:spPr>
        <p:txBody>
          <a:bodyPr anchorCtr="0" anchor="t" bIns="45700" lIns="91425" spcFirstLastPara="1" rIns="91425" wrap="square" tIns="45700">
            <a:normAutofit/>
          </a:bodyPr>
          <a:lstStyle/>
          <a:p>
            <a:pPr indent="-381000" lvl="0" marL="228600" rtl="0" algn="ctr">
              <a:lnSpc>
                <a:spcPct val="90000"/>
              </a:lnSpc>
              <a:spcBef>
                <a:spcPts val="0"/>
              </a:spcBef>
              <a:spcAft>
                <a:spcPts val="0"/>
              </a:spcAft>
              <a:buClr>
                <a:schemeClr val="lt1"/>
              </a:buClr>
              <a:buSzPts val="6000"/>
              <a:buChar char="•"/>
            </a:pPr>
            <a:r>
              <a:rPr lang="es-ES" sz="6000">
                <a:solidFill>
                  <a:schemeClr val="lt1"/>
                </a:solidFill>
              </a:rPr>
              <a:t>¿Preguntas?</a:t>
            </a:r>
            <a:endParaRPr sz="6000"/>
          </a:p>
        </p:txBody>
      </p:sp>
      <p:sp>
        <p:nvSpPr>
          <p:cNvPr descr="Open In Colab" id="193" name="Google Shape;193;p18"/>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98" name="Shape 198"/>
        <p:cNvGrpSpPr/>
        <p:nvPr/>
      </p:nvGrpSpPr>
      <p:grpSpPr>
        <a:xfrm>
          <a:off x="0" y="0"/>
          <a:ext cx="0" cy="0"/>
          <a:chOff x="0" y="0"/>
          <a:chExt cx="0" cy="0"/>
        </a:xfrm>
      </p:grpSpPr>
      <p:sp>
        <p:nvSpPr>
          <p:cNvPr id="199" name="Google Shape;199;p19"/>
          <p:cNvSpPr txBox="1"/>
          <p:nvPr>
            <p:ph idx="1" type="body"/>
          </p:nvPr>
        </p:nvSpPr>
        <p:spPr>
          <a:xfrm>
            <a:off x="3741964" y="2908243"/>
            <a:ext cx="5012872" cy="1041513"/>
          </a:xfrm>
          <a:prstGeom prst="rect">
            <a:avLst/>
          </a:prstGeom>
          <a:noFill/>
          <a:ln>
            <a:noFill/>
          </a:ln>
        </p:spPr>
        <p:txBody>
          <a:bodyPr anchorCtr="0" anchor="t" bIns="45700" lIns="91425" spcFirstLastPara="1" rIns="91425" wrap="square" tIns="45700">
            <a:normAutofit fontScale="85000" lnSpcReduction="10000"/>
          </a:bodyPr>
          <a:lstStyle/>
          <a:p>
            <a:pPr indent="0" lvl="0" marL="0" rtl="0" algn="ctr">
              <a:lnSpc>
                <a:spcPct val="90000"/>
              </a:lnSpc>
              <a:spcBef>
                <a:spcPts val="0"/>
              </a:spcBef>
              <a:spcAft>
                <a:spcPts val="0"/>
              </a:spcAft>
              <a:buClr>
                <a:schemeClr val="lt1"/>
              </a:buClr>
              <a:buSzPct val="100000"/>
              <a:buNone/>
            </a:pPr>
            <a:r>
              <a:rPr lang="es-ES" sz="6000">
                <a:solidFill>
                  <a:schemeClr val="lt1"/>
                </a:solidFill>
              </a:rPr>
              <a:t>¡Muchas gracias!</a:t>
            </a:r>
            <a:endParaRPr sz="6000"/>
          </a:p>
        </p:txBody>
      </p:sp>
      <p:sp>
        <p:nvSpPr>
          <p:cNvPr descr="Open In Colab" id="200" name="Google Shape;200;p19"/>
          <p:cNvSpPr/>
          <p:nvPr/>
        </p:nvSpPr>
        <p:spPr>
          <a:xfrm>
            <a:off x="5943600" y="3276600"/>
            <a:ext cx="304800" cy="304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01" name="Google Shape;201;p19"/>
          <p:cNvSpPr txBox="1"/>
          <p:nvPr/>
        </p:nvSpPr>
        <p:spPr>
          <a:xfrm>
            <a:off x="7840436" y="4755020"/>
            <a:ext cx="3638700" cy="954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s-ES" sz="3200">
                <a:solidFill>
                  <a:schemeClr val="lt1"/>
                </a:solidFill>
                <a:latin typeface="Calibri"/>
                <a:ea typeface="Calibri"/>
                <a:cs typeface="Calibri"/>
                <a:sym typeface="Calibri"/>
              </a:rPr>
              <a:t>Rubén Díaz </a:t>
            </a:r>
            <a:endParaRPr/>
          </a:p>
          <a:p>
            <a:pPr indent="0" lvl="0" marL="0" marR="0" rtl="0" algn="l">
              <a:spcBef>
                <a:spcPts val="0"/>
              </a:spcBef>
              <a:spcAft>
                <a:spcPts val="0"/>
              </a:spcAft>
              <a:buNone/>
            </a:pPr>
            <a:r>
              <a:rPr lang="es-ES" sz="2400" u="sng">
                <a:solidFill>
                  <a:schemeClr val="lt1"/>
                </a:solidFill>
                <a:latin typeface="Calibri"/>
                <a:ea typeface="Calibri"/>
                <a:cs typeface="Calibri"/>
                <a:sym typeface="Calibri"/>
                <a:hlinkClick r:id="rId4">
                  <a:extLst>
                    <a:ext uri="{A12FA001-AC4F-418D-AE19-62706E023703}">
                      <ahyp:hlinkClr val="tx"/>
                    </a:ext>
                  </a:extLst>
                </a:hlinkClick>
              </a:rPr>
              <a:t>ruben.diaz@t.ucom.edu.py</a:t>
            </a:r>
            <a:endParaRPr sz="2400">
              <a:solidFill>
                <a:schemeClr val="lt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2022-02-01T14:18:33Z</dcterms:created>
  <dc:creator>PC Nueva</dc:creator>
</cp:coreProperties>
</file>