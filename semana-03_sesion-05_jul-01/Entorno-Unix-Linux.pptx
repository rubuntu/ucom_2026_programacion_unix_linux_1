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8FAFC"/>
                </a:solidFill>
                <a:latin typeface="Arial"/>
              </a:defRPr>
            </a:pPr>
            <a:r>
              <a:t>Sesión 5: El Entorno</a:t>
            </a:r>
            <a:br/>
            <a:r>
              <a:t>Unix/Linux</a:t>
            </a:r>
          </a:p>
          <a:p>
            <a:pPr>
              <a:defRPr sz="2000">
                <a:solidFill>
                  <a:srgbClr val="64748B"/>
                </a:solidFill>
                <a:latin typeface="Arial"/>
              </a:defRPr>
            </a:pPr>
            <a:r>
              <a:t>Paso de Argumentos, Variables de Entorno, Tiempo, Archivos Temporales, Identidad de Usuario y Registro de Logs</a:t>
            </a:r>
            <a:br/>
            <a:r>
              <a:t>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Objetivos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1. </a:t>
            </a:r>
            <a:r>
              <a:rPr sz="1600" b="1">
                <a:solidFill>
                  <a:srgbClr val="0F172A"/>
                </a:solidFill>
                <a:latin typeface="Arial"/>
              </a:rPr>
              <a:t>Aprender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a pasar y procesar argumentos por línea de comandos utilizando opciones cortas y largas.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2. </a:t>
            </a:r>
            <a:r>
              <a:rPr sz="1600" b="1">
                <a:solidFill>
                  <a:srgbClr val="0F172A"/>
                </a:solidFill>
                <a:latin typeface="Arial"/>
              </a:rPr>
              <a:t>Comprender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cómo interactuar con las variables de entorno del sistema desde C y Python.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3. </a:t>
            </a:r>
            <a:r>
              <a:rPr sz="1600" b="1">
                <a:solidFill>
                  <a:srgbClr val="0F172A"/>
                </a:solidFill>
                <a:latin typeface="Arial"/>
              </a:rPr>
              <a:t>Conocer</a:t>
            </a:r>
            <a:r>
              <a:rPr sz="1600" b="0">
                <a:solidFill>
                  <a:srgbClr val="0F172A"/>
                </a:solidFill>
                <a:latin typeface="Arial"/>
              </a:rPr>
              <a:t> las funciones de tiempo de bajo y alto nivel para la obtención y formateo de fecha y hora.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4. </a:t>
            </a:r>
            <a:r>
              <a:rPr sz="1600" b="1">
                <a:solidFill>
                  <a:srgbClr val="0F172A"/>
                </a:solidFill>
                <a:latin typeface="Arial"/>
              </a:rPr>
              <a:t>Aprender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a generar y administrar de forma segura nombres y archivos temporales únicos.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5. </a:t>
            </a:r>
            <a:r>
              <a:rPr sz="1600" b="1">
                <a:solidFill>
                  <a:srgbClr val="0F172A"/>
                </a:solidFill>
                <a:latin typeface="Arial"/>
              </a:rPr>
              <a:t>Identificar</a:t>
            </a:r>
            <a:r>
              <a:rPr sz="1600" b="0">
                <a:solidFill>
                  <a:srgbClr val="0F172A"/>
                </a:solidFill>
                <a:latin typeface="Arial"/>
              </a:rPr>
              <a:t> el host y el usuario de ejecución a través de llamadas del sistema.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6. </a:t>
            </a:r>
            <a:r>
              <a:rPr sz="1600" b="1">
                <a:solidFill>
                  <a:srgbClr val="0F172A"/>
                </a:solidFill>
                <a:latin typeface="Arial"/>
              </a:rPr>
              <a:t>Utilizar</a:t>
            </a:r>
            <a:r>
              <a:rPr sz="1600" b="0">
                <a:solidFill>
                  <a:srgbClr val="0F172A"/>
                </a:solidFill>
                <a:latin typeface="Arial"/>
              </a:rPr>
              <a:t> la bitácora del sistema (</a:t>
            </a:r>
            <a:r>
              <a:rPr sz="1600" b="1">
                <a:solidFill>
                  <a:srgbClr val="2563EB"/>
                </a:solidFill>
                <a:latin typeface="Consolas"/>
              </a:rPr>
              <a:t>syslog</a:t>
            </a:r>
            <a:r>
              <a:rPr sz="1600" b="0">
                <a:solidFill>
                  <a:srgbClr val="0F172A"/>
                </a:solidFill>
                <a:latin typeface="Arial"/>
              </a:rPr>
              <a:t>) para el registro de logs y control de prioridades.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Estructura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Argumentos de Entrada</a:t>
            </a:r>
            <a:r>
              <a:rPr sz="1600" b="0">
                <a:solidFill>
                  <a:srgbClr val="0F172A"/>
                </a:solidFill>
                <a:latin typeface="Arial"/>
              </a:rPr>
              <a:t>: Procesamiento manual y automatizado (</a:t>
            </a:r>
            <a:r>
              <a:rPr sz="1600" b="1">
                <a:solidFill>
                  <a:srgbClr val="2563EB"/>
                </a:solidFill>
                <a:latin typeface="Consolas"/>
              </a:rPr>
              <a:t>getopt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getopt_long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Variables de Entorno</a:t>
            </a:r>
            <a:r>
              <a:rPr sz="1600" b="0">
                <a:solidFill>
                  <a:srgbClr val="0F172A"/>
                </a:solidFill>
                <a:latin typeface="Arial"/>
              </a:rPr>
              <a:t>: Leer y escribir variables globales del shell.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Fecha y Hora</a:t>
            </a:r>
            <a:r>
              <a:rPr sz="1600" b="0">
                <a:solidFill>
                  <a:srgbClr val="0F172A"/>
                </a:solidFill>
                <a:latin typeface="Arial"/>
              </a:rPr>
              <a:t>: epoch de Unix, estructura </a:t>
            </a:r>
            <a:r>
              <a:rPr sz="1600" b="1">
                <a:solidFill>
                  <a:srgbClr val="2563EB"/>
                </a:solidFill>
                <a:latin typeface="Consolas"/>
              </a:rPr>
              <a:t>tm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gmtime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ctime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strftime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Archivos Temporales</a:t>
            </a:r>
            <a:r>
              <a:rPr sz="1600" b="0">
                <a:solidFill>
                  <a:srgbClr val="0F172A"/>
                </a:solidFill>
                <a:latin typeface="Arial"/>
              </a:rPr>
              <a:t>: Generación de identificadores de archivos temporales únicos.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Usuario y Host</a:t>
            </a:r>
            <a:r>
              <a:rPr sz="1600" b="0">
                <a:solidFill>
                  <a:srgbClr val="0F172A"/>
                </a:solidFill>
                <a:latin typeface="Arial"/>
              </a:rPr>
              <a:t>: Obtención de credenciales de usuario del sistema y del host.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Registro de Logs (syslog)</a:t>
            </a:r>
            <a:r>
              <a:rPr sz="1600" b="0">
                <a:solidFill>
                  <a:srgbClr val="0F172A"/>
                </a:solidFill>
                <a:latin typeface="Arial"/>
              </a:rPr>
              <a:t>: Envío de alertas y logs de error a la bitácora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01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Argumentos en la Línea de Comandos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ARGUMENTOS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Paso de Argumentos: args.c y args.py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C, la función </a:t>
            </a:r>
            <a:r>
              <a:rPr sz="1500" b="1">
                <a:solidFill>
                  <a:srgbClr val="2563EB"/>
                </a:solidFill>
                <a:latin typeface="Consolas"/>
              </a:rPr>
              <a:t>main</a:t>
            </a:r>
            <a:r>
              <a:rPr sz="1500" b="0">
                <a:solidFill>
                  <a:srgbClr val="0F172A"/>
                </a:solidFill>
                <a:latin typeface="Arial"/>
              </a:rPr>
              <a:t> recibe los argumentos a través de dos parámetros estándar: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argc</a:t>
            </a:r>
            <a:r>
              <a:rPr sz="1500" b="0">
                <a:solidFill>
                  <a:srgbClr val="0F172A"/>
                </a:solidFill>
                <a:latin typeface="Arial"/>
              </a:rPr>
              <a:t> (Argument Count): Entero que representa la cantidad total de argumentos.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argv</a:t>
            </a:r>
            <a:r>
              <a:rPr sz="1500" b="0">
                <a:solidFill>
                  <a:srgbClr val="0F172A"/>
                </a:solidFill>
                <a:latin typeface="Arial"/>
              </a:rPr>
              <a:t> (Argument Vector): Arreglo de cadenas de caracteres conteniendo los parámetros.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argv[0]</a:t>
            </a:r>
            <a:r>
              <a:rPr sz="1500" b="0">
                <a:solidFill>
                  <a:srgbClr val="0F172A"/>
                </a:solidFill>
                <a:latin typeface="Arial"/>
              </a:rPr>
              <a:t> siempre almacena el nombre del ejecutable.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se utiliza la lista </a:t>
            </a:r>
            <a:r>
              <a:rPr sz="1500" b="1">
                <a:solidFill>
                  <a:srgbClr val="0F172A"/>
                </a:solidFill>
                <a:latin typeface="Arial"/>
              </a:rPr>
              <a:t>`sys.argv`</a:t>
            </a:r>
            <a:r>
              <a:rPr sz="1500" b="0">
                <a:solidFill>
                  <a:srgbClr val="0F172A"/>
                </a:solidFill>
                <a:latin typeface="Arial"/>
              </a:rPr>
              <a:t> provista por el módulo </a:t>
            </a:r>
            <a:r>
              <a:rPr sz="1500" b="1">
                <a:solidFill>
                  <a:srgbClr val="2563EB"/>
                </a:solidFill>
                <a:latin typeface="Consolas"/>
              </a:rPr>
              <a:t>sys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args.c / args.py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args.c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main(int argc, char *argv[])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for(int i=0; i&lt;argc; i++)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printf("arg[%d]: %s\n", i, argv[i]);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args.py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for i, arg in enumerate(sys.argv):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print(f"arg[{i}]: {arg}")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ARGUMENTOS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Opciones Cortas: argopt.c y argopt.py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Para manejar opciones (flags) cortas como </a:t>
            </a:r>
            <a:r>
              <a:rPr sz="1500" b="1">
                <a:solidFill>
                  <a:srgbClr val="2563EB"/>
                </a:solidFill>
                <a:latin typeface="Consolas"/>
              </a:rPr>
              <a:t>-i</a:t>
            </a:r>
            <a:r>
              <a:rPr sz="1500" b="0">
                <a:solidFill>
                  <a:srgbClr val="0F172A"/>
                </a:solidFill>
                <a:latin typeface="Arial"/>
              </a:rPr>
              <a:t> o </a:t>
            </a:r>
            <a:r>
              <a:rPr sz="1500" b="1">
                <a:solidFill>
                  <a:srgbClr val="2563EB"/>
                </a:solidFill>
                <a:latin typeface="Consolas"/>
              </a:rPr>
              <a:t>-f archivo.txt</a:t>
            </a:r>
            <a:r>
              <a:rPr sz="1500" b="0">
                <a:solidFill>
                  <a:srgbClr val="0F172A"/>
                </a:solidFill>
                <a:latin typeface="Arial"/>
              </a:rPr>
              <a:t>, Unix provee la función </a:t>
            </a:r>
            <a:r>
              <a:rPr sz="1500" b="1">
                <a:solidFill>
                  <a:srgbClr val="0F172A"/>
                </a:solidFill>
                <a:latin typeface="Arial"/>
              </a:rPr>
              <a:t>`getopt()`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 cadena de opciones define las letras válidas. Si una letra va seguida de dos puntos (</a:t>
            </a:r>
            <a:r>
              <a:rPr sz="1500" b="1">
                <a:solidFill>
                  <a:srgbClr val="2563EB"/>
                </a:solidFill>
                <a:latin typeface="Consolas"/>
              </a:rPr>
              <a:t>:</a:t>
            </a:r>
            <a:r>
              <a:rPr sz="1500" b="0">
                <a:solidFill>
                  <a:srgbClr val="0F172A"/>
                </a:solidFill>
                <a:latin typeface="Arial"/>
              </a:rPr>
              <a:t>), indica que requiere un valor adicional (disponible en </a:t>
            </a:r>
            <a:r>
              <a:rPr sz="1500" b="1">
                <a:solidFill>
                  <a:srgbClr val="2563EB"/>
                </a:solidFill>
                <a:latin typeface="Consolas"/>
              </a:rPr>
              <a:t>optarg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Python cuenta con el módulo equivalente </a:t>
            </a:r>
            <a:r>
              <a:rPr sz="1500" b="1">
                <a:solidFill>
                  <a:srgbClr val="0F172A"/>
                </a:solidFill>
                <a:latin typeface="Arial"/>
              </a:rPr>
              <a:t>`getopt.getopt`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argopt.c / argopt.py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getopt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&lt;unistd.h&gt;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while ((opt = getopt(argc, argv, "if:lr")) != -1)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switch(opt)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case 'f': file = optarg; break;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case 'i': init = 1; break;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getopt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getopt, sys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opts, args = getopt.getopt(sys.argv[1:], "if:lr")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for o, a in opts: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if o == "-f": file =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ARGUMENTOS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Opciones Largas: longopt.c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Las herramientas modernas de GNU admiten opciones largas legibles (ej: </a:t>
            </a:r>
            <a:r>
              <a:rPr sz="1500" b="1">
                <a:solidFill>
                  <a:srgbClr val="2563EB"/>
                </a:solidFill>
                <a:latin typeface="Consolas"/>
              </a:rPr>
              <a:t>--init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--file=doc.txt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C, se utiliza la función </a:t>
            </a:r>
            <a:r>
              <a:rPr sz="1500" b="1">
                <a:solidFill>
                  <a:srgbClr val="0F172A"/>
                </a:solidFill>
                <a:latin typeface="Arial"/>
              </a:rPr>
              <a:t>`getopt_long()`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Requiere la inclusión de </a:t>
            </a:r>
            <a:r>
              <a:rPr sz="1500" b="1">
                <a:solidFill>
                  <a:srgbClr val="2563EB"/>
                </a:solidFill>
                <a:latin typeface="Consolas"/>
              </a:rPr>
              <a:t>&lt;getopt.h&gt;</a:t>
            </a:r>
            <a:r>
              <a:rPr sz="1500" b="0">
                <a:solidFill>
                  <a:srgbClr val="0F172A"/>
                </a:solidFill>
                <a:latin typeface="Arial"/>
              </a:rPr>
              <a:t> y definir un arreglo de estructuras </a:t>
            </a:r>
            <a:r>
              <a:rPr sz="1500" b="1">
                <a:solidFill>
                  <a:srgbClr val="2563EB"/>
                </a:solidFill>
                <a:latin typeface="Consolas"/>
              </a:rPr>
              <a:t>struct option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Cada opción define su nombre largo, si espera argumentos (</a:t>
            </a:r>
            <a:r>
              <a:rPr sz="1500" b="1">
                <a:solidFill>
                  <a:srgbClr val="2563EB"/>
                </a:solidFill>
                <a:latin typeface="Consolas"/>
              </a:rPr>
              <a:t>required_argument</a:t>
            </a:r>
            <a:r>
              <a:rPr sz="1500" b="0">
                <a:solidFill>
                  <a:srgbClr val="0F172A"/>
                </a:solidFill>
                <a:latin typeface="Arial"/>
              </a:rPr>
              <a:t> o </a:t>
            </a:r>
            <a:r>
              <a:rPr sz="1500" b="1">
                <a:solidFill>
                  <a:srgbClr val="2563EB"/>
                </a:solidFill>
                <a:latin typeface="Consolas"/>
              </a:rPr>
              <a:t>no_argument</a:t>
            </a:r>
            <a:r>
              <a:rPr sz="1500" b="0">
                <a:solidFill>
                  <a:srgbClr val="0F172A"/>
                </a:solidFill>
                <a:latin typeface="Arial"/>
              </a:rPr>
              <a:t>), y una letra corta equivalente.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longopt.c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Estructura de opciones largas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&lt;getopt.h&gt;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struct option options[] =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{"init", no_argument, NULL, 'i'},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{"file", required_argument, NULL, 'f'},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{0, 0, 0, 0}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opt_idx;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opt = getopt_long(argc, argv,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          "if:", options, &amp;opt_idx);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02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Variables de Entorno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VARIABLES DE ENTORNO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Variables de Entorno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Las </a:t>
            </a:r>
            <a:r>
              <a:rPr sz="1500" b="1">
                <a:solidFill>
                  <a:srgbClr val="0F172A"/>
                </a:solidFill>
                <a:latin typeface="Arial"/>
              </a:rPr>
              <a:t>variables de entorno</a:t>
            </a:r>
            <a:r>
              <a:rPr sz="1500" b="0">
                <a:solidFill>
                  <a:srgbClr val="0F172A"/>
                </a:solidFill>
                <a:latin typeface="Arial"/>
              </a:rPr>
              <a:t> definen el entorno en el que corre el programa (ej. </a:t>
            </a:r>
            <a:r>
              <a:rPr sz="1500" b="1">
                <a:solidFill>
                  <a:srgbClr val="2563EB"/>
                </a:solidFill>
                <a:latin typeface="Consolas"/>
              </a:rPr>
              <a:t>PATH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HOME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C, se accede a la lista completa usando el puntero global </a:t>
            </a:r>
            <a:r>
              <a:rPr sz="1500" b="1">
                <a:solidFill>
                  <a:srgbClr val="0F172A"/>
                </a:solidFill>
                <a:latin typeface="Arial"/>
              </a:rPr>
              <a:t>`extern char </a:t>
            </a:r>
            <a:r>
              <a:rPr sz="1500" b="0">
                <a:solidFill>
                  <a:srgbClr val="0F172A"/>
                </a:solidFill>
                <a:latin typeface="Arial"/>
              </a:rPr>
              <a:t>environ`**.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También es posible leer variables individuales mediante </a:t>
            </a:r>
            <a:r>
              <a:rPr sz="1500" b="1">
                <a:solidFill>
                  <a:srgbClr val="2563EB"/>
                </a:solidFill>
                <a:latin typeface="Consolas"/>
              </a:rPr>
              <a:t>getenv("NOMBRE")</a:t>
            </a:r>
            <a:r>
              <a:rPr sz="1500" b="0">
                <a:solidFill>
                  <a:srgbClr val="0F172A"/>
                </a:solidFill>
                <a:latin typeface="Arial"/>
              </a:rPr>
              <a:t> y definirlas con </a:t>
            </a:r>
            <a:r>
              <a:rPr sz="1500" b="1">
                <a:solidFill>
                  <a:srgbClr val="2563EB"/>
                </a:solidFill>
                <a:latin typeface="Consolas"/>
              </a:rPr>
              <a:t>putenv("VAR=VAL")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se accede a través del diccionario integrado </a:t>
            </a:r>
            <a:r>
              <a:rPr sz="1500" b="1">
                <a:solidFill>
                  <a:srgbClr val="0F172A"/>
                </a:solidFill>
                <a:latin typeface="Arial"/>
              </a:rPr>
              <a:t>`os.environ`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environ.c / showenv.py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showenv.c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extern char **environ;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char **env = environ;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while (*env)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printf("%s\n", *env);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env++;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showenv.py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for k, v in os.environ.items():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print(f"{k}={v}")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03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Gestión de Fecha y Hora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FECHA Y 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Tiempo de Bajo Nivel: envtime.c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El tiempo del sistema en Unix se calcula como los segundos transcurridos desde el </a:t>
            </a:r>
            <a:r>
              <a:rPr sz="1500" b="1">
                <a:solidFill>
                  <a:srgbClr val="0F172A"/>
                </a:solidFill>
                <a:latin typeface="Arial"/>
              </a:rPr>
              <a:t>1 de enero de 1970</a:t>
            </a:r>
            <a:r>
              <a:rPr sz="1500" b="0">
                <a:solidFill>
                  <a:srgbClr val="0F172A"/>
                </a:solidFill>
                <a:latin typeface="Arial"/>
              </a:rPr>
              <a:t> (Epoch).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 llamada del sistema </a:t>
            </a:r>
            <a:r>
              <a:rPr sz="1500" b="1">
                <a:solidFill>
                  <a:srgbClr val="0F172A"/>
                </a:solidFill>
                <a:latin typeface="Arial"/>
              </a:rPr>
              <a:t>`time()`</a:t>
            </a:r>
            <a:r>
              <a:rPr sz="1500" b="0">
                <a:solidFill>
                  <a:srgbClr val="0F172A"/>
                </a:solidFill>
                <a:latin typeface="Arial"/>
              </a:rPr>
              <a:t> devuelve este valor usando el tipo de dato </a:t>
            </a:r>
            <a:r>
              <a:rPr sz="1500" b="1">
                <a:solidFill>
                  <a:srgbClr val="2563EB"/>
                </a:solidFill>
                <a:latin typeface="Consolas"/>
              </a:rPr>
              <a:t>time_t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Este valor numérico es ideal para medir la duración de procesos y realizar cálculos de forma matemática.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Para presentarlo al usuario, debe ser convertido a una estructura de tiempo legible.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envtime.c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envtime.c: tiempo epoch cada 2s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&lt;time.h&gt;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&lt;unistd.h&gt;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time_t time_val;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for (int i = 0; i &lt; 5; i++)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time_val = time(NULL);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printf("Epoch: %ld\n", time_val);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sleep(2);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FECHA Y 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Tiempo para Humanos: gmtime y ctime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Para traducir el valor Epoch a campos de calendario (año, mes, día, etc.), se emplean funciones de biblioteca: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`gmtime(time_t)`</a:t>
            </a:r>
            <a:r>
              <a:rPr sz="1500" b="0">
                <a:solidFill>
                  <a:srgbClr val="0F172A"/>
                </a:solidFill>
                <a:latin typeface="Arial"/>
              </a:rPr>
              <a:t>: Convierte el valor epoch a una estructura de tipo </a:t>
            </a:r>
            <a:r>
              <a:rPr sz="1500" b="1">
                <a:solidFill>
                  <a:srgbClr val="2563EB"/>
                </a:solidFill>
                <a:latin typeface="Consolas"/>
              </a:rPr>
              <a:t>struct tm</a:t>
            </a:r>
            <a:r>
              <a:rPr sz="1500" b="0">
                <a:solidFill>
                  <a:srgbClr val="0F172A"/>
                </a:solidFill>
                <a:latin typeface="Arial"/>
              </a:rPr>
              <a:t> expresada en hora universal (UTC).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`ctime(time_t)`</a:t>
            </a:r>
            <a:r>
              <a:rPr sz="1500" b="0">
                <a:solidFill>
                  <a:srgbClr val="0F172A"/>
                </a:solidFill>
                <a:latin typeface="Arial"/>
              </a:rPr>
              <a:t>: Convierte de forma directa a una cadena formateada con la hora local lista para imprimir.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la biblioteca estándar </a:t>
            </a:r>
            <a:r>
              <a:rPr sz="1500" b="1">
                <a:solidFill>
                  <a:srgbClr val="2563EB"/>
                </a:solidFill>
                <a:latin typeface="Consolas"/>
              </a:rPr>
              <a:t>time</a:t>
            </a:r>
            <a:r>
              <a:rPr sz="1500" b="0">
                <a:solidFill>
                  <a:srgbClr val="0F172A"/>
                </a:solidFill>
                <a:latin typeface="Arial"/>
              </a:rPr>
              <a:t> provee funciones análogas como </a:t>
            </a:r>
            <a:r>
              <a:rPr sz="1500" b="1">
                <a:solidFill>
                  <a:srgbClr val="2563EB"/>
                </a:solidFill>
                <a:latin typeface="Consolas"/>
              </a:rPr>
              <a:t>time.gmtime()</a:t>
            </a:r>
            <a:r>
              <a:rPr sz="1500" b="0">
                <a:solidFill>
                  <a:srgbClr val="0F172A"/>
                </a:solidFill>
                <a:latin typeface="Arial"/>
              </a:rPr>
              <a:t> y </a:t>
            </a:r>
            <a:r>
              <a:rPr sz="1500" b="1">
                <a:solidFill>
                  <a:srgbClr val="2563EB"/>
                </a:solidFill>
                <a:latin typeface="Consolas"/>
              </a:rPr>
              <a:t>time.ctime()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gmtime.c / ctime.c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gmtime y ctime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&lt;time.h&gt;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time_t t = time(NULL);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struct tm *tm_ptr = gmtime(&amp;t);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printf("UTC Año: %d\n",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   tm_ptr-&gt;tm_year + 1900);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printf("Local: %s", ctime(&amp;t));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gmtime.py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time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t_utc = time.gmtime()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print("UTC Año:", t_utc.tm_year)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FECHA Y 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Formateo Avanzado: strftime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La función </a:t>
            </a:r>
            <a:r>
              <a:rPr sz="1500" b="1">
                <a:solidFill>
                  <a:srgbClr val="0F172A"/>
                </a:solidFill>
                <a:latin typeface="Arial"/>
              </a:rPr>
              <a:t>`strftime()`</a:t>
            </a:r>
            <a:r>
              <a:rPr sz="1500" b="0">
                <a:solidFill>
                  <a:srgbClr val="0F172A"/>
                </a:solidFill>
                <a:latin typeface="Arial"/>
              </a:rPr>
              <a:t> permite dar un formato específico a la fecha y hora.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Funciona similar a </a:t>
            </a:r>
            <a:r>
              <a:rPr sz="1500" b="1">
                <a:solidFill>
                  <a:srgbClr val="2563EB"/>
                </a:solidFill>
                <a:latin typeface="Consolas"/>
              </a:rPr>
              <a:t>printf</a:t>
            </a:r>
            <a:r>
              <a:rPr sz="1500" b="0">
                <a:solidFill>
                  <a:srgbClr val="0F172A"/>
                </a:solidFill>
                <a:latin typeface="Arial"/>
              </a:rPr>
              <a:t>, utilizando códigos de formato especiales: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%A</a:t>
            </a:r>
            <a:r>
              <a:rPr sz="1500" b="0">
                <a:solidFill>
                  <a:srgbClr val="0F172A"/>
                </a:solidFill>
                <a:latin typeface="Arial"/>
              </a:rPr>
              <a:t>: Día de la semana completo (ej: 'Martes').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%B</a:t>
            </a:r>
            <a:r>
              <a:rPr sz="1500" b="0">
                <a:solidFill>
                  <a:srgbClr val="0F172A"/>
                </a:solidFill>
                <a:latin typeface="Arial"/>
              </a:rPr>
              <a:t>: Nombre del mes completo (ej: 'Julio').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%d</a:t>
            </a:r>
            <a:r>
              <a:rPr sz="1500" b="0">
                <a:solidFill>
                  <a:srgbClr val="0F172A"/>
                </a:solidFill>
                <a:latin typeface="Arial"/>
              </a:rPr>
              <a:t>: Día del mes en formato numérico (01-31).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%Y</a:t>
            </a:r>
            <a:r>
              <a:rPr sz="1500" b="0">
                <a:solidFill>
                  <a:srgbClr val="0F172A"/>
                </a:solidFill>
                <a:latin typeface="Arial"/>
              </a:rPr>
              <a:t>: Año con 4 dígitos.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Python tiene el mismo método </a:t>
            </a:r>
            <a:r>
              <a:rPr sz="1500" b="1">
                <a:solidFill>
                  <a:srgbClr val="2563EB"/>
                </a:solidFill>
                <a:latin typeface="Consolas"/>
              </a:rPr>
              <a:t>time.strftime()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strftime.c / strftime.py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strftime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&lt;time.h&gt;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char buf[80];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time_t t = time(NULL);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struct tm *local = localtime(&amp;t);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strftime(buf, 80, "%A, %d %B", local);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printf("Hoy: %s\n", buf);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strftime.py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time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local = time.localtime()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print(time.strftime("%A, %d %B", local))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04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Manejo de Archivos Temporales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ARCHIVOS TEMPORALES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Archivos Temporales: tmpnam y tmpfile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Muchos programas necesitan almacenar datos de forma temporal durante su ejecución.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`tmpnam(char *buf)`</a:t>
            </a:r>
            <a:r>
              <a:rPr sz="1500" b="0">
                <a:solidFill>
                  <a:srgbClr val="0F172A"/>
                </a:solidFill>
                <a:latin typeface="Arial"/>
              </a:rPr>
              <a:t>: Genera una ruta y nombre de archivo único garantizado en el sistema.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`tmpfile()`</a:t>
            </a:r>
            <a:r>
              <a:rPr sz="1500" b="0">
                <a:solidFill>
                  <a:srgbClr val="0F172A"/>
                </a:solidFill>
                <a:latin typeface="Arial"/>
              </a:rPr>
              <a:t>: Crea y abre directamente un archivo temporal único en modo lectura/escritura (</a:t>
            </a:r>
            <a:r>
              <a:rPr sz="1500" b="1">
                <a:solidFill>
                  <a:srgbClr val="2563EB"/>
                </a:solidFill>
                <a:latin typeface="Consolas"/>
              </a:rPr>
              <a:t>w+b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Seguridad</a:t>
            </a:r>
            <a:r>
              <a:rPr sz="1500" b="0">
                <a:solidFill>
                  <a:srgbClr val="0F172A"/>
                </a:solidFill>
                <a:latin typeface="Arial"/>
              </a:rPr>
              <a:t>: El archivo creado con </a:t>
            </a:r>
            <a:r>
              <a:rPr sz="1500" b="1">
                <a:solidFill>
                  <a:srgbClr val="2563EB"/>
                </a:solidFill>
                <a:latin typeface="Consolas"/>
              </a:rPr>
              <a:t>tmpfile()</a:t>
            </a:r>
            <a:r>
              <a:rPr sz="1500" b="0">
                <a:solidFill>
                  <a:srgbClr val="0F172A"/>
                </a:solidFill>
                <a:latin typeface="Arial"/>
              </a:rPr>
              <a:t> se elimina automáticamente al cerrar el programa o el descriptor.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se utiliza el módulo </a:t>
            </a:r>
            <a:r>
              <a:rPr sz="1500" b="1">
                <a:solidFill>
                  <a:srgbClr val="0F172A"/>
                </a:solidFill>
                <a:latin typeface="Arial"/>
              </a:rPr>
              <a:t>`tempfile`</a:t>
            </a:r>
            <a:r>
              <a:rPr sz="1500" b="0">
                <a:solidFill>
                  <a:srgbClr val="0F172A"/>
                </a:solidFill>
                <a:latin typeface="Arial"/>
              </a:rPr>
              <a:t> para estas operaciones.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tmpnam.c / tmpnam.py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tmpnam.c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char name[L_tmpnam];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tmpnam(name);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printf("Temporal: %s\n", name);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FILE *tmp = tmpfile();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// ... usar archivo ...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fclose(tmp); // Se borra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tmpnam.py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tempfile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with tempfile.NamedTemporaryFile() as tmp: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print("Temporal:", tmp.name)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# Se borra al salir del block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05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Información de Usuario y Host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USUARIO Y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Detalles del Usuario: user.c y user.py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Un programa puede obtener detalles de la cuenta de usuario bajo la cual se ejecuta: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`getuid()`</a:t>
            </a:r>
            <a:r>
              <a:rPr sz="1500" b="0">
                <a:solidFill>
                  <a:srgbClr val="0F172A"/>
                </a:solidFill>
                <a:latin typeface="Arial"/>
              </a:rPr>
              <a:t>: Obtiene el identificador numérico de usuario (UID).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`getpwuid(uid)`</a:t>
            </a:r>
            <a:r>
              <a:rPr sz="1500" b="0">
                <a:solidFill>
                  <a:srgbClr val="0F172A"/>
                </a:solidFill>
                <a:latin typeface="Arial"/>
              </a:rPr>
              <a:t>: Busca en la base de datos de usuarios (</a:t>
            </a:r>
            <a:r>
              <a:rPr sz="1500" b="1">
                <a:solidFill>
                  <a:srgbClr val="2563EB"/>
                </a:solidFill>
                <a:latin typeface="Consolas"/>
              </a:rPr>
              <a:t>/etc/passwd</a:t>
            </a:r>
            <a:r>
              <a:rPr sz="1500" b="0">
                <a:solidFill>
                  <a:srgbClr val="0F172A"/>
                </a:solidFill>
                <a:latin typeface="Arial"/>
              </a:rPr>
              <a:t>) y devuelve una estructura </a:t>
            </a:r>
            <a:r>
              <a:rPr sz="1500" b="1">
                <a:solidFill>
                  <a:srgbClr val="2563EB"/>
                </a:solidFill>
                <a:latin typeface="Consolas"/>
              </a:rPr>
              <a:t>passwd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Contiene datos útiles como </a:t>
            </a:r>
            <a:r>
              <a:rPr sz="1500" b="1">
                <a:solidFill>
                  <a:srgbClr val="2563EB"/>
                </a:solidFill>
                <a:latin typeface="Consolas"/>
              </a:rPr>
              <a:t>pw_name</a:t>
            </a:r>
            <a:r>
              <a:rPr sz="1500" b="0">
                <a:solidFill>
                  <a:srgbClr val="0F172A"/>
                </a:solidFill>
                <a:latin typeface="Arial"/>
              </a:rPr>
              <a:t> (nombre de usuario), </a:t>
            </a:r>
            <a:r>
              <a:rPr sz="1500" b="1">
                <a:solidFill>
                  <a:srgbClr val="2563EB"/>
                </a:solidFill>
                <a:latin typeface="Consolas"/>
              </a:rPr>
              <a:t>pw_dir</a:t>
            </a:r>
            <a:r>
              <a:rPr sz="1500" b="0">
                <a:solidFill>
                  <a:srgbClr val="0F172A"/>
                </a:solidFill>
                <a:latin typeface="Arial"/>
              </a:rPr>
              <a:t> (home) y </a:t>
            </a:r>
            <a:r>
              <a:rPr sz="1500" b="1">
                <a:solidFill>
                  <a:srgbClr val="2563EB"/>
                </a:solidFill>
                <a:latin typeface="Consolas"/>
              </a:rPr>
              <a:t>pw_shell</a:t>
            </a:r>
            <a:r>
              <a:rPr sz="1500" b="0">
                <a:solidFill>
                  <a:srgbClr val="0F172A"/>
                </a:solidFill>
                <a:latin typeface="Arial"/>
              </a:rPr>
              <a:t> (shell por defecto).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el módulo </a:t>
            </a:r>
            <a:r>
              <a:rPr sz="1500" b="1">
                <a:solidFill>
                  <a:srgbClr val="0F172A"/>
                </a:solidFill>
                <a:latin typeface="Arial"/>
              </a:rPr>
              <a:t>`pwd`</a:t>
            </a:r>
            <a:r>
              <a:rPr sz="1500" b="0">
                <a:solidFill>
                  <a:srgbClr val="0F172A"/>
                </a:solidFill>
                <a:latin typeface="Arial"/>
              </a:rPr>
              <a:t> realiza consultas análogas.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user.c / user.py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user.c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&lt;pwd.h&gt;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&lt;unistd.h&gt;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uid_t uid = getuid();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struct passwd *pw = getpwuid(uid);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printf("User: %s\n", pw-&gt;pw_name);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printf("Home: %s\n", pw-&gt;pw_dir);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user.py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pwd, 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pw = pwd.getpwuid(os.getuid())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print(f"User: {pw.pw_name}")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USUARIO Y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Detalles del Host: hostget.c y hostget.py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Es posible conocer las características de hardware y sistema del equipo donde corre la aplicación: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`gethostname(buf, len)`</a:t>
            </a:r>
            <a:r>
              <a:rPr sz="1500" b="0">
                <a:solidFill>
                  <a:srgbClr val="0F172A"/>
                </a:solidFill>
                <a:latin typeface="Arial"/>
              </a:rPr>
              <a:t>: Escribe el nombre de red de la máquina en un búfer.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`uname(struct utsname *buf)`</a:t>
            </a:r>
            <a:r>
              <a:rPr sz="1500" b="0">
                <a:solidFill>
                  <a:srgbClr val="0F172A"/>
                </a:solidFill>
                <a:latin typeface="Arial"/>
              </a:rPr>
              <a:t>: Consulta detalles del sistema operativo, el kernel y la arquitectura.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En Python, se utilizan los módulos </a:t>
            </a:r>
            <a:r>
              <a:rPr sz="1500" b="1">
                <a:solidFill>
                  <a:srgbClr val="0F172A"/>
                </a:solidFill>
                <a:latin typeface="Arial"/>
              </a:rPr>
              <a:t>`socket`</a:t>
            </a:r>
            <a:r>
              <a:rPr sz="1500" b="0">
                <a:solidFill>
                  <a:srgbClr val="0F172A"/>
                </a:solidFill>
                <a:latin typeface="Arial"/>
              </a:rPr>
              <a:t> y </a:t>
            </a:r>
            <a:r>
              <a:rPr sz="1500" b="1">
                <a:solidFill>
                  <a:srgbClr val="0F172A"/>
                </a:solidFill>
                <a:latin typeface="Arial"/>
              </a:rPr>
              <a:t>`platform`</a:t>
            </a:r>
            <a:r>
              <a:rPr sz="1500" b="0">
                <a:solidFill>
                  <a:srgbClr val="0F172A"/>
                </a:solidFill>
                <a:latin typeface="Arial"/>
              </a:rPr>
              <a:t> para obtener esta información.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hostget.c / hostget.py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hostget.c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&lt;sys/utsname.h&gt;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&lt;unistd.h&gt;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char host[256];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gethostname(host, 256);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struct utsname s;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uname(&amp;s);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printf("Host: %s, OS: %s\n",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   host, s.sysname);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hostget.py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socket, platform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print("Host:", socket.gethostname())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print("OS:", platform.system())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06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Configuración de Logs (Syslog)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SISTEMA SYSLOG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Uso de syslog y logmask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El sistema Unix cuenta con un servicio centralizado de registro llamado </a:t>
            </a:r>
            <a:r>
              <a:rPr sz="1500" b="1">
                <a:solidFill>
                  <a:srgbClr val="0F172A"/>
                </a:solidFill>
                <a:latin typeface="Arial"/>
              </a:rPr>
              <a:t>syslogd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`syslog(prioridad, mensaje)`</a:t>
            </a:r>
            <a:r>
              <a:rPr sz="1500" b="0">
                <a:solidFill>
                  <a:srgbClr val="0F172A"/>
                </a:solidFill>
                <a:latin typeface="Arial"/>
              </a:rPr>
              <a:t>: Envía mensajes a la bitácora indicando severidad (</a:t>
            </a:r>
            <a:r>
              <a:rPr sz="1500" b="1">
                <a:solidFill>
                  <a:srgbClr val="2563EB"/>
                </a:solidFill>
                <a:latin typeface="Consolas"/>
              </a:rPr>
              <a:t>LOG_ERR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LOG_WARNING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LOG_INFO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`openlog(ident, options, facility)`</a:t>
            </a:r>
            <a:r>
              <a:rPr sz="1500" b="0">
                <a:solidFill>
                  <a:srgbClr val="0F172A"/>
                </a:solidFill>
                <a:latin typeface="Arial"/>
              </a:rPr>
              <a:t>: Establece un prefijo para identificar los mensajes en la bitácora global.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`setlogmask(máscara)`</a:t>
            </a:r>
            <a:r>
              <a:rPr sz="1500" b="0">
                <a:solidFill>
                  <a:srgbClr val="0F172A"/>
                </a:solidFill>
                <a:latin typeface="Arial"/>
              </a:rPr>
              <a:t>: Filtra los logs para ignorar eventos de baja relevancia en producción, optimizando el rendimiento.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syslog.c / logmask.c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// C: syslog y logmask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#include &lt;syslog.h&gt;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openlog("mi_app", LOG_PID, LOG_USER);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// Registrar sólo de Notice hacia arriba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setlogmask(LOG_UPTO(LOG_NOTICE));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syslog(LOG_ERR, "Error crítico!");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syslog(LOG_DEBUG, "Mensaje filtrado");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Python: syslog.py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syslog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syslog.openlog("mi_app")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syslog.syslog(syslog.LOG_ERR, "Error")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Recursos y Referencias Adicionales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Libro de Referencia</a:t>
            </a:r>
            <a:r>
              <a:rPr sz="1600" b="0">
                <a:solidFill>
                  <a:srgbClr val="0F172A"/>
                </a:solidFill>
                <a:latin typeface="Arial"/>
              </a:rPr>
              <a:t>: *"Beginning Linux Programming"* - Capítulo 4 (The Linux Environment) de Neil Matthew y Richard Stones.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Manuales del Programador</a:t>
            </a:r>
            <a:r>
              <a:rPr sz="1600" b="0">
                <a:solidFill>
                  <a:srgbClr val="0F172A"/>
                </a:solidFill>
                <a:latin typeface="Arial"/>
              </a:rPr>
              <a:t>: Hojas de manual de Unix (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3 getopt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3 strftime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3 syslog</a:t>
            </a:r>
            <a:r>
              <a:rPr sz="16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Documentación de Python</a:t>
            </a:r>
            <a:r>
              <a:rPr sz="1600" b="0">
                <a:solidFill>
                  <a:srgbClr val="0F172A"/>
                </a:solidFill>
                <a:latin typeface="Arial"/>
              </a:rPr>
              <a:t>: Módulos oficiales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getopt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os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time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tempfile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pwd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socket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platform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syslog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Estándar POSIX</a:t>
            </a:r>
            <a:r>
              <a:rPr sz="1600" b="0">
                <a:solidFill>
                  <a:srgbClr val="0F172A"/>
                </a:solidFill>
                <a:latin typeface="Arial"/>
              </a:rPr>
              <a:t>: Revisar especificaciones de APIs estándar para portabilidad entre sistemas Unix/Linux.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