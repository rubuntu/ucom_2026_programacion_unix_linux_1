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17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9B4FA"/>
                </a:solidFill>
                <a:latin typeface="Helvetica Neue"/>
              </a:defRPr>
            </a:pPr>
            <a:r>
              <a:t>Programación Unix/Linux I</a:t>
            </a:r>
          </a:p>
          <a:p>
            <a:pPr>
              <a:spcBef>
                <a:spcPts val="2000"/>
              </a:spcBef>
              <a:defRPr sz="2400">
                <a:solidFill>
                  <a:srgbClr val="94E2D5"/>
                </a:solidFill>
                <a:latin typeface="Helvetica Neue"/>
              </a:defRPr>
            </a:pPr>
            <a:r>
              <a:t>Entorno, Shell, Procesos y Editores de Texto</a:t>
            </a:r>
          </a:p>
          <a:p>
            <a:pPr>
              <a:spcBef>
                <a:spcPts val="4000"/>
              </a:spcBef>
              <a:defRPr sz="1600">
                <a:solidFill>
                  <a:srgbClr val="CDD6F4"/>
                </a:solidFill>
                <a:latin typeface="Helvetica Neue"/>
              </a:defRPr>
            </a:pPr>
            <a:r>
              <a:t>Basado en el contenido de la Sesión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Contenido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1. El Entorno Unix/Linux</a:t>
            </a:r>
          </a:p>
          <a:p>
            <a:pPr lvl="1">
              <a:spcAft>
                <a:spcPts val="1000"/>
              </a:spcAft>
              <a:defRPr sz="1600">
                <a:solidFill>
                  <a:srgbClr val="CDD6F4"/>
                </a:solidFill>
                <a:latin typeface="Helvetica Neue"/>
              </a:defRPr>
            </a:pPr>
            <a:r>
              <a:t>Argumentos de línea de comandos (getopt), variables de entorno, fecha/hora del sistema, e información del host/usuario.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2. Prácticas de Shell</a:t>
            </a:r>
          </a:p>
          <a:p>
            <a:pPr lvl="1">
              <a:spcAft>
                <a:spcPts val="1000"/>
              </a:spcAft>
              <a:defRPr sz="1600">
                <a:solidFill>
                  <a:srgbClr val="CDD6F4"/>
                </a:solidFill>
                <a:latin typeface="Helvetica Neue"/>
              </a:defRPr>
            </a:pPr>
            <a:r>
              <a:t>Redirección de entrada/salida (&gt;, &gt;&gt;, &lt;, 2&gt;), tuberías (pipes) y creación de scripts ejecutables.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3. Editores de Texto en Terminal</a:t>
            </a:r>
          </a:p>
          <a:p>
            <a:pPr lvl="1">
              <a:spcAft>
                <a:spcPts val="1000"/>
              </a:spcAft>
              <a:defRPr sz="1600">
                <a:solidFill>
                  <a:srgbClr val="CDD6F4"/>
                </a:solidFill>
                <a:latin typeface="Helvetica Neue"/>
              </a:defRPr>
            </a:pPr>
            <a:r>
              <a:t>Uso básico y comandos esenciales de Nano y Vim.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4. Procesos en Unix/Linux</a:t>
            </a:r>
          </a:p>
          <a:p>
            <a:pPr lvl="1">
              <a:spcAft>
                <a:spcPts val="1000"/>
              </a:spcAft>
              <a:defRPr sz="1600">
                <a:solidFill>
                  <a:srgbClr val="CDD6F4"/>
                </a:solidFill>
                <a:latin typeface="Helvetica Neue"/>
              </a:defRPr>
            </a:pPr>
            <a:r>
              <a:t>Definición, jerarquía (padre/hijo), identificadores de procesos (PID) y control (ps, top, kill).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5. Variables de Entorno en Python</a:t>
            </a:r>
          </a:p>
          <a:p>
            <a:pPr lvl="1">
              <a:spcAft>
                <a:spcPts val="1000"/>
              </a:spcAft>
              <a:defRPr sz="1600">
                <a:solidFill>
                  <a:srgbClr val="CDD6F4"/>
                </a:solidFill>
                <a:latin typeface="Helvetica Neue"/>
              </a:defRPr>
            </a:pPr>
            <a:r>
              <a:t>Lectura y manipulación de variables de entorno mediante el módulo 'os' en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1. El Entorno Unix/Linux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Paso de Argumentos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Uso de 'getopt' (C) o 'sys.argv' (Python) para procesar opciones cortas y largas en programas de consola.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Variables de Entorno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Acceso a la configuración global del sistema (ej. HOME, PATH, USER) que define el contexto del programa.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Fecha y Hora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Uso de funciones del sistema como 'gmtime', 'ctime' y 'strftime' para gestionar marcas de tiempo y formatos legibles.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Archivos Temporales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Generación segura de nombres de archivos temporales mediante 'tmpnam' para evitar colisiones.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1111B"/>
          </a:solidFill>
          <a:ln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C2E7"/>
                </a:solidFill>
                <a:latin typeface="Consolas"/>
              </a:defRPr>
            </a:pPr>
            <a:r>
              <a:t>Ejemplo: Obtener Entorno en Python</a:t>
            </a:r>
          </a:p>
          <a:p>
            <a:pPr>
              <a:defRPr sz="1400">
                <a:solidFill>
                  <a:srgbClr val="A6E3A1"/>
                </a:solidFill>
                <a:latin typeface="Consolas"/>
              </a:defRPr>
            </a:pPr>
            <a:r>
              <a:t>import os</a:t>
            </a:r>
            <a:br/>
            <a:br/>
            <a:r>
              <a:t># Obtener variable de entorno HOME</a:t>
            </a:r>
            <a:br/>
            <a:r>
              <a:t>home_dir = os.environ.get('HOME')</a:t>
            </a:r>
            <a:br/>
            <a:r>
              <a:t>print(f"Directorio Home: {home_dir}")</a:t>
            </a:r>
            <a:br/>
            <a:br/>
            <a:r>
              <a:t># Modificar variable localmente</a:t>
            </a:r>
            <a:br/>
            <a:r>
              <a:t>os.environ['MI_VAR'] = 'Hola Mundo'</a:t>
            </a:r>
            <a:br/>
            <a:r>
              <a:t>print(os.environ['MI_VAR'])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2. Redirecciones y Tuberías en la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Redirección de Salida (&gt;) y (&gt;&gt;)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Redirecciona stdout a un archivo. '&gt;' sobrescribe el archivo, mientras que '&gt;&gt;' añade la información al final del archivo.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Redirección de Errores (2&gt;)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Captura stderr en un archivo independiente. Ejemplo: 'comando 2&gt; errorestxt'.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Redirección de Entrada (&lt;)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Lee la entrada estándar (stdin) desde un archivo en lugar del teclado.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Tuberías (Pipes |)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Conecta la salida (stdout) de un proceso directamente a la entrada (stdin) del siguiente. Ejemplo: 'ps | sort | more'.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1111B"/>
          </a:solidFill>
          <a:ln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C2E7"/>
                </a:solidFill>
                <a:latin typeface="Consolas"/>
              </a:defRPr>
            </a:pPr>
            <a:r>
              <a:t>Ejemplos prácticos en Consola</a:t>
            </a:r>
          </a:p>
          <a:p>
            <a:pPr>
              <a:defRPr sz="1400">
                <a:solidFill>
                  <a:srgbClr val="A6E3A1"/>
                </a:solidFill>
                <a:latin typeface="Consolas"/>
              </a:defRPr>
            </a:pPr>
            <a:r>
              <a:t># Guardar listado de procesos ordenado</a:t>
            </a:r>
            <a:br/>
            <a:r>
              <a:t>ps aux | sort &gt; procesos.txt</a:t>
            </a:r>
            <a:br/>
            <a:br/>
            <a:r>
              <a:t># Capturar stdout y stderr en un archivo</a:t>
            </a:r>
            <a:br/>
            <a:r>
              <a:t>kill -1 1234 &gt; salida.txt 2&gt;&amp;1</a:t>
            </a:r>
            <a:br/>
            <a:br/>
            <a:r>
              <a:t># Enviar salida de error a la basura</a:t>
            </a:r>
            <a:br/>
            <a:r>
              <a:t>ls archivo_inexistente &gt; /dev/null 2&gt;&amp;1</a:t>
            </a:r>
            <a:br/>
            <a:br/>
            <a:r>
              <a:t># Hacer un script ejecutable y correrlo</a:t>
            </a:r>
            <a:br/>
            <a:r>
              <a:t>chmod +x script.sh</a:t>
            </a:r>
            <a:br/>
            <a:r>
              <a:t>./script.sh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3. Editores de Texto en la Terminal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1111B"/>
          </a:solidFill>
          <a:ln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94E2D5"/>
                </a:solidFill>
                <a:latin typeface="Helvetica Neue"/>
              </a:defRPr>
            </a:pPr>
            <a:r>
              <a:t>GNU Nano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Diseñado para ser simple y fácil de usar, sin modos.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Comandos básicos mostrados en la parte inferior de la pantalla usando la tecla Ctrl (abreviada como '^').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Ctrl + O: Guardar (escribir el archivo).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Ctrl + X: Salir de Nano (pregunta si guardar cambios).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Ctrl + W: Buscar un texto en el archivo.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Ctrl + K / Ctrl + U: Cortar y pegar líneas de texto.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1111B"/>
          </a:solidFill>
          <a:ln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19672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C2E7"/>
                </a:solidFill>
                <a:latin typeface="Helvetica Neue"/>
              </a:defRPr>
            </a:pPr>
            <a:r>
              <a:t>Vim (Vi IMproved)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Altamente configurable y potente, basado en modos.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Modo Comando (por defecto): Permite navegar y ejecutar acciones. Navegación clásica con h, j, k, l.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Modo Edición: Presionar 'i' para insertar texto. Salir al Modo Comando presionando la tecla Esc.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Guardar y Salir: Escribir ':wq' en modo comando y presionar Enter. Para salir sin guardar: ':q!'.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dd: Borra una línea completa; x: Borra el carácter actual.</a:t>
            </a:r>
          </a:p>
          <a:p>
            <a:pPr>
              <a:spcBef>
                <a:spcPts val="800"/>
              </a:spcBef>
              <a:defRPr sz="1500">
                <a:solidFill>
                  <a:srgbClr val="CDD6F4"/>
                </a:solidFill>
                <a:latin typeface="Helvetica Neue"/>
              </a:defRPr>
            </a:pPr>
            <a:r>
              <a:t>• yy: Copia una línea completa; p: Pega el texto copiado.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4. Procesos en Unix/Linux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¿Qué es un proceso?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Es una instancia de un programa en ejecución. Tiene asignado memoria, descriptores de archivos y un contexto único.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Jerarquía de Procesos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Los procesos tienen una relación padre/hijo. Los hijos heredan el entorno de sus padres al crearse.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Process ID (PID)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Un número identificador único asignado por el kernel para gestionar el ciclo de vida de cada proceso.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Señales del Sistema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Mecanismo de comunicación para notificar eventos o forzar acciones a los procesos. 'kill' envía estas señales.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1111B"/>
          </a:solidFill>
          <a:ln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C2E7"/>
                </a:solidFill>
                <a:latin typeface="Consolas"/>
              </a:defRPr>
            </a:pPr>
            <a:r>
              <a:t>Comandos Clave de Gestión de Procesos</a:t>
            </a:r>
          </a:p>
          <a:p>
            <a:pPr>
              <a:defRPr sz="1400">
                <a:solidFill>
                  <a:srgbClr val="A6E3A1"/>
                </a:solidFill>
                <a:latin typeface="Consolas"/>
              </a:defRPr>
            </a:pPr>
            <a:r>
              <a:t># ps: Muestra el estado de los procesos actuales</a:t>
            </a:r>
            <a:br/>
            <a:r>
              <a:t>ps aux | head -n 10</a:t>
            </a:r>
            <a:br/>
            <a:br/>
            <a:r>
              <a:t># top: Monitoreo dinámico e interactivo en tiempo real</a:t>
            </a:r>
            <a:br/>
            <a:r>
              <a:t>top</a:t>
            </a:r>
            <a:br/>
            <a:br/>
            <a:r>
              <a:t># pstree: Representación jerárquica en forma de árbol</a:t>
            </a:r>
            <a:br/>
            <a:r>
              <a:t>pstree -p</a:t>
            </a:r>
            <a:br/>
            <a:br/>
            <a:r>
              <a:t># kill: Envia una señal a un PID (ej. terminar proceso)</a:t>
            </a:r>
            <a:br/>
            <a:r>
              <a:t>kill -9 1234</a:t>
            </a:r>
            <a:br/>
            <a:r>
              <a:t>kill -HUP 5678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5. Control de Procesos y Entorno en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Módulo 'os'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Biblioteca estándar de Python para interactuar con la interfaz del sistema operativo.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Información del Proceso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Uso de 'os.getpid()' para obtener el PID actual y 'os.getcwd()' para el directorio de trabajo activo.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Creación de Procesos Hijos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Uso de 'os.fork()' para bifurcar el proceso. Retorna 0 en el hijo y el PID del hijo en el padre.</a:t>
            </a:r>
          </a:p>
          <a:p>
            <a:pPr>
              <a:spcBef>
                <a:spcPts val="800"/>
              </a:spcBef>
              <a:defRPr sz="1800" b="1">
                <a:solidFill>
                  <a:srgbClr val="94E2D5"/>
                </a:solidFill>
                <a:latin typeface="Helvetica Neue"/>
              </a:defRPr>
            </a:pPr>
            <a:r>
              <a:t>• Manipulación de Entorno</a:t>
            </a:r>
          </a:p>
          <a:p>
            <a:pPr lvl="1">
              <a:defRPr sz="1400">
                <a:solidFill>
                  <a:srgbClr val="CDD6F4"/>
                </a:solidFill>
                <a:latin typeface="Helvetica Neue"/>
              </a:defRPr>
            </a:pPr>
            <a:r>
              <a:t>Acceso al diccionario 'os.environ' para consultar y reescribir variables de entorno de forma temporal.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1111B"/>
          </a:solidFill>
          <a:ln>
            <a:solidFill>
              <a:srgbClr val="F5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C2E7"/>
                </a:solidFill>
                <a:latin typeface="Consolas"/>
              </a:defRPr>
            </a:pPr>
            <a:r>
              <a:t>Ejemplo: Bifurcar Proceso (os.fork)</a:t>
            </a:r>
          </a:p>
          <a:p>
            <a:pPr>
              <a:defRPr sz="1400">
                <a:solidFill>
                  <a:srgbClr val="A6E3A1"/>
                </a:solidFill>
                <a:latin typeface="Consolas"/>
              </a:defRPr>
            </a:pPr>
            <a:r>
              <a:t>import os</a:t>
            </a:r>
            <a:br/>
            <a:br/>
            <a:r>
              <a:t># Obtener información del proceso actual</a:t>
            </a:r>
            <a:br/>
            <a:r>
              <a:t>print(f"PID del proceso padre: {os.getpid()}")</a:t>
            </a:r>
            <a:br/>
            <a:br/>
            <a:r>
              <a:t># Bifurcar</a:t>
            </a:r>
            <a:br/>
            <a:r>
              <a:t>pid = os.fork()</a:t>
            </a:r>
            <a:br/>
            <a:r>
              <a:t>if pid == 0:</a:t>
            </a:r>
            <a:br/>
            <a:r>
              <a:t>    print(f"[Hijo] Mi PID es {os.getpid()}")</a:t>
            </a:r>
            <a:br/>
            <a:r>
              <a:t>    print(f"[Hijo] Mi padre es {os.getppid()}")</a:t>
            </a:r>
            <a:br/>
            <a:r>
              <a:t>else:</a:t>
            </a:r>
            <a:br/>
            <a:r>
              <a:t>    print(f"[Padre] Creé un hijo con PID: {pid}")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Helvetica Neue"/>
              </a:defRPr>
            </a:pPr>
            <a:r>
              <a:t>Resumen de Aprendizajes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✔ Automatización y Scripts</a:t>
            </a:r>
          </a:p>
          <a:p>
            <a:pPr lvl="1">
              <a:defRPr sz="1600">
                <a:solidFill>
                  <a:srgbClr val="CDD6F4"/>
                </a:solidFill>
                <a:latin typeface="Helvetica Neue"/>
              </a:defRPr>
            </a:pPr>
            <a:r>
              <a:t>El uso de la shell permite encadenar comandos sencillos usando tuberías para realizar tareas complejas eficientemente.</a:t>
            </a:r>
          </a:p>
          <a:p>
            <a:pPr>
              <a:spcBef>
                <a:spcPts val="1200"/>
              </a:spcBef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✔ Entorno Controlado</a:t>
            </a:r>
          </a:p>
          <a:p>
            <a:pPr lvl="1">
              <a:defRPr sz="1600">
                <a:solidFill>
                  <a:srgbClr val="CDD6F4"/>
                </a:solidFill>
                <a:latin typeface="Helvetica Neue"/>
              </a:defRPr>
            </a:pPr>
            <a:r>
              <a:t>Las variables de entorno definen y adaptan el comportamiento de ejecutables y scripts dinámicamente.</a:t>
            </a:r>
          </a:p>
          <a:p>
            <a:pPr>
              <a:spcBef>
                <a:spcPts val="1200"/>
              </a:spcBef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✔ Control de Procesos</a:t>
            </a:r>
          </a:p>
          <a:p>
            <a:pPr lvl="1">
              <a:defRPr sz="1600">
                <a:solidFill>
                  <a:srgbClr val="CDD6F4"/>
                </a:solidFill>
                <a:latin typeface="Helvetica Neue"/>
              </a:defRPr>
            </a:pPr>
            <a:r>
              <a:t>El sistema operativo Unix/Linux gestiona todo a través de procesos; comprender su jerarquía, identificadores (PID) y señales es clave para la administración de sistemas.</a:t>
            </a:r>
          </a:p>
          <a:p>
            <a:pPr>
              <a:spcBef>
                <a:spcPts val="1200"/>
              </a:spcBef>
              <a:defRPr sz="2000" b="1">
                <a:solidFill>
                  <a:srgbClr val="F5C2E7"/>
                </a:solidFill>
                <a:latin typeface="Helvetica Neue"/>
              </a:defRPr>
            </a:pPr>
            <a:r>
              <a:t>✔ Edición en Terminal</a:t>
            </a:r>
          </a:p>
          <a:p>
            <a:pPr lvl="1">
              <a:defRPr sz="1600">
                <a:solidFill>
                  <a:srgbClr val="CDD6F4"/>
                </a:solidFill>
                <a:latin typeface="Helvetica Neue"/>
              </a:defRPr>
            </a:pPr>
            <a:r>
              <a:t>El dominio de herramientas de edición rápida en la terminal (Vim y Nano) es una competencia indispensable para cualquier desarrollador Unix/Linux.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