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Introducción a Ansible</a:t>
            </a:r>
          </a:p>
          <a:p>
            <a:pPr algn="l">
              <a:spcBef>
                <a:spcPts val="1500"/>
              </a:spcBef>
              <a:defRPr sz="2200">
                <a:solidFill>
                  <a:srgbClr val="DD6B20"/>
                </a:solidFill>
                <a:latin typeface="Arial"/>
              </a:defRPr>
            </a:pPr>
            <a:r>
              <a:t>Automatización de sistemas y configuración como código (IaC)</a:t>
            </a:r>
          </a:p>
          <a:p>
            <a:pPr algn="l">
              <a:spcBef>
                <a:spcPts val="3000"/>
              </a:spcBef>
              <a:defRPr sz="1600">
                <a:solidFill>
                  <a:srgbClr val="718096"/>
                </a:solidFill>
                <a:latin typeface="Arial"/>
              </a:defRPr>
            </a:pPr>
            <a:r>
              <a:t>Conceptos fundamentales para la automatización e idempotencia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Arial"/>
              </a:defRPr>
            </a:pPr>
            <a:r>
              <a:t>¿Qué es Ansible?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Sin Agentes (Agentless):</a:t>
            </a:r>
            <a:r>
              <a:rPr sz="2000">
                <a:solidFill>
                  <a:srgbClr val="2D3748"/>
                </a:solidFill>
              </a:rPr>
              <a:t> No requiere instalar software cliente o daemons en los nodos administrados. Se comunica directamente mediante SSH (Linux/Unix) o WinRM (Windows).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Declarativo:</a:t>
            </a:r>
            <a:r>
              <a:rPr sz="2000">
                <a:solidFill>
                  <a:srgbClr val="2D3748"/>
                </a:solidFill>
              </a:rPr>
              <a:t> Define el "estado deseado" de la configuración (ej. "este paquete debe estar instalado") en lugar de los pasos procedurales para lograrlo.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Idempotente:</a:t>
            </a:r>
            <a:r>
              <a:rPr sz="2000">
                <a:solidFill>
                  <a:srgbClr val="2D3748"/>
                </a:solidFill>
              </a:rPr>
              <a:t> Garantiza que ejecutar el mismo playbook múltiples veces solo aplique cambios cuando el sistema no coincida con el estado deseado. Evita configuraciones corruptas.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Sintaxis Simple:</a:t>
            </a:r>
            <a:r>
              <a:rPr sz="2000">
                <a:solidFill>
                  <a:srgbClr val="2D3748"/>
                </a:solidFill>
              </a:rPr>
              <a:t> Utiliza archivos YAML legibles por humanos, reduciendo la curva de aprendizaje para desarrolladores y administradores de sistemas.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Arial"/>
              </a:defRPr>
            </a:pPr>
            <a:r>
              <a:t>Componentes Clave de Ansible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Nodo de Control (Control Node):</a:t>
            </a:r>
            <a:r>
              <a:rPr sz="2000">
                <a:solidFill>
                  <a:srgbClr val="2D3748"/>
                </a:solidFill>
              </a:rPr>
              <a:t> La máquina donde está instalado Ansible. Desde aquí se ejecutan los comandos y Playbooks.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Nodos Administrados (Managed Nodes):</a:t>
            </a:r>
            <a:r>
              <a:rPr sz="2000">
                <a:solidFill>
                  <a:srgbClr val="2D3748"/>
                </a:solidFill>
              </a:rPr>
              <a:t> Los servidores o dispositivos de red que son controlados por el nodo de control (no requieren Ansible instalado).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Inventario (Inventory):</a:t>
            </a:r>
            <a:r>
              <a:rPr sz="2000">
                <a:solidFill>
                  <a:srgbClr val="2D3748"/>
                </a:solidFill>
              </a:rPr>
              <a:t> Archivo (normalmente en formato INI o YAML) que contiene la lista de direcciones IP o dominios de los servidores administrados.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Módulos (Modules):</a:t>
            </a:r>
            <a:r>
              <a:rPr sz="2000">
                <a:solidFill>
                  <a:srgbClr val="2D3748"/>
                </a:solidFill>
              </a:rPr>
              <a:t> Bloques de código que realizan la acción real en el nodo administrado (ej. instalar un paquete, reiniciar un servicio, copiar un archivo).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Arial"/>
              </a:defRPr>
            </a:pPr>
            <a:r>
              <a:t>Playbooks: Automatización y 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240"/>
                </a:solidFill>
              </a:rPr>
              <a:t>• Sintaxis YAML:</a:t>
            </a:r>
            <a:r>
              <a:rPr sz="1800">
                <a:solidFill>
                  <a:srgbClr val="2D3748"/>
                </a:solidFill>
              </a:rPr>
              <a:t> Escritos en archivos estructurados con sangrías obligatorias (sin tabuladores). Comienzan con tres guiones `---`.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240"/>
                </a:solidFill>
              </a:rPr>
              <a:t>• Plays y Tasks:</a:t>
            </a:r>
            <a:r>
              <a:rPr sz="1800">
                <a:solidFill>
                  <a:srgbClr val="2D3748"/>
                </a:solidFill>
              </a:rPr>
              <a:t> Un Playbook contiene uno o más "Plays" (ejecuciones). Cada Play tiene una lista de "Tasks" (tareas) secuenciales.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240"/>
                </a:solidFill>
              </a:rPr>
              <a:t>• Estructura de Tarea:</a:t>
            </a:r>
            <a:r>
              <a:rPr sz="1800">
                <a:solidFill>
                  <a:srgbClr val="2D3748"/>
                </a:solidFill>
              </a:rPr>
              <a:t> Cada tarea tiene un nombre descriptivo (`name`) y llama a un módulo con argumentos específicos.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F2240"/>
                </a:solidFill>
              </a:rPr>
              <a:t>• Ejecución:</a:t>
            </a:r>
            <a:r>
              <a:rPr sz="1800">
                <a:solidFill>
                  <a:srgbClr val="2D3748"/>
                </a:solidFill>
              </a:rPr>
              <a:t> Se lanzan mediante el comando `ansible-playbook -i &lt;inventario&gt; &lt;playbook.yml&gt;`.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64592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D6B20"/>
                </a:solidFill>
              </a:defRPr>
            </a:pPr>
            <a:r>
              <a:t>Ejemplo de Playbook Básico:</a:t>
            </a:r>
          </a:p>
          <a:p>
            <a:pPr>
              <a:spcBef>
                <a:spcPts val="500"/>
              </a:spcBef>
              <a:defRPr sz="1400">
                <a:solidFill>
                  <a:srgbClr val="1E293B"/>
                </a:solidFill>
                <a:latin typeface="Consolas"/>
              </a:defRPr>
            </a:pPr>
            <a:r>
              <a:t>---</a:t>
            </a:r>
            <a:br/>
            <a:r>
              <a:t>- name: Desplegar servidor Nginx</a:t>
            </a:r>
            <a:br/>
            <a:r>
              <a:t>  hosts: servidores_web</a:t>
            </a:r>
            <a:br/>
            <a:r>
              <a:t>  become: yes</a:t>
            </a:r>
            <a:br/>
            <a:r>
              <a:t>  tasks:</a:t>
            </a:r>
            <a:br/>
            <a:r>
              <a:t>    - name: Asegurar que nginx esté instalado</a:t>
            </a:r>
            <a:br/>
            <a:r>
              <a:t>      apt:</a:t>
            </a:r>
            <a:br/>
            <a:r>
              <a:t>        name: nginx</a:t>
            </a:r>
            <a:br/>
            <a:r>
              <a:t>        state: present</a:t>
            </a:r>
            <a:br/>
            <a:r>
              <a:t>        update_cache: yes</a:t>
            </a:r>
            <a:br/>
            <a:br/>
            <a:r>
              <a:t>    - name: Iniciar el servicio nginx</a:t>
            </a:r>
            <a:br/>
            <a:r>
              <a:t>      service:</a:t>
            </a:r>
            <a:br/>
            <a:r>
              <a:t>        name: nginx</a:t>
            </a:r>
            <a:br/>
            <a:r>
              <a:t>        state: started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F2240"/>
                </a:solidFill>
                <a:latin typeface="Arial"/>
              </a:defRPr>
            </a:pPr>
            <a:r>
              <a:t>Módulos Esenciales e Idempotencia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apt / yum / dnf:</a:t>
            </a:r>
            <a:r>
              <a:rPr sz="2000">
                <a:solidFill>
                  <a:srgbClr val="2D3748"/>
                </a:solidFill>
              </a:rPr>
              <a:t> Gestionan paquetes en sistemas operativos Linux. `state: present` asegura que el software esté instalado; `state: absent` lo desinstala.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copy / template:</a:t>
            </a:r>
            <a:r>
              <a:rPr sz="2000">
                <a:solidFill>
                  <a:srgbClr val="2D3748"/>
                </a:solidFill>
              </a:rPr>
              <a:t> Transfieren archivos al nodo administrado. `copy` envía archivos estáticos; `template` procesa plantillas Jinja2 dinámicas con variables.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service / systemd:</a:t>
            </a:r>
            <a:r>
              <a:rPr sz="2000">
                <a:solidFill>
                  <a:srgbClr val="2D3748"/>
                </a:solidFill>
              </a:rPr>
              <a:t> Controlan servicios del sistema. `state: started` inicia el servicio; `enabled: yes` asegura que arranque al iniciar el servidor.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F2240"/>
                </a:solidFill>
              </a:rPr>
              <a:t>• Idempotencia en Acción:</a:t>
            </a:r>
            <a:r>
              <a:rPr sz="2000">
                <a:solidFill>
                  <a:srgbClr val="2D3748"/>
                </a:solidFill>
              </a:rPr>
              <a:t> Al ejecutar una tarea, Ansible verifica el estado actual del host. Si coincide con el playbook, la tarea marca "OK" (verde, 0 cambios). Si requiere acción, realiza los cambios y marca "Changed" (amarillo).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dirty="0" err="1"/>
              <a:t>Recursos</a:t>
            </a:r>
            <a:r>
              <a:rPr dirty="0"/>
              <a:t> y Enlaces </a:t>
            </a:r>
            <a:r>
              <a:rPr dirty="0" err="1"/>
              <a:t>Gratuitos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D6B20"/>
                </a:solidFill>
              </a:rPr>
              <a:t>Documentación Oficial de Ansible: </a:t>
            </a:r>
            <a:r>
              <a:rPr sz="1600">
                <a:solidFill>
                  <a:srgbClr val="FFFFFF"/>
                </a:solidFill>
              </a:rPr>
              <a:t> Guías paso a paso, instalación y referencia completa de módulos.
   Enlace: </a:t>
            </a:r>
            <a:r>
              <a:rPr sz="1600" u="sng">
                <a:solidFill>
                  <a:srgbClr val="FFFFFF"/>
                </a:solidFill>
              </a:rPr>
              <a:t>https://docs.ansible.com/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D6B20"/>
                </a:solidFill>
              </a:rPr>
              <a:t>Red Hat Interactive Labs: </a:t>
            </a:r>
            <a:r>
              <a:rPr sz="1600">
                <a:solidFill>
                  <a:srgbClr val="FFFFFF"/>
                </a:solidFill>
              </a:rPr>
              <a:t> Laboratorios interactivos guiados y gratuitos basados en navegador web.
   Enlace: </a:t>
            </a:r>
            <a:r>
              <a:rPr sz="1600" u="sng">
                <a:solidFill>
                  <a:srgbClr val="FFFFFF"/>
                </a:solidFill>
              </a:rPr>
              <a:t>https://www.redhat.com/en/interactive-labs/ansible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D6B20"/>
                </a:solidFill>
              </a:rPr>
              <a:t>Ansible Workshops (Red Hat): </a:t>
            </a:r>
            <a:r>
              <a:rPr sz="1600">
                <a:solidFill>
                  <a:srgbClr val="FFFFFF"/>
                </a:solidFill>
              </a:rPr>
              <a:t> Talleres oficiales self-paced para configurar y administrar infraestructura.
   Enlace: </a:t>
            </a:r>
            <a:r>
              <a:rPr sz="1600" u="sng">
                <a:solidFill>
                  <a:srgbClr val="FFFFFF"/>
                </a:solidFill>
              </a:rPr>
              <a:t>https://www.ansible.com/workshops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D6B20"/>
                </a:solidFill>
              </a:rPr>
              <a:t>Ansible Galaxy Community: </a:t>
            </a:r>
            <a:r>
              <a:rPr sz="1600">
                <a:solidFill>
                  <a:srgbClr val="FFFFFF"/>
                </a:solidFill>
              </a:rPr>
              <a:t> Descarga gratuita de roles y colecciones listas para usar de la comunidad.
   Enlace: </a:t>
            </a:r>
            <a:r>
              <a:rPr sz="1600" u="sng">
                <a:solidFill>
                  <a:srgbClr val="FFFFFF"/>
                </a:solidFill>
              </a:rPr>
              <a:t>https://galaxy.ansible.com/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DD6B20"/>
                </a:solidFill>
              </a:rPr>
              <a:t>Plataforma KodeKloud Free Labs: </a:t>
            </a:r>
            <a:r>
              <a:rPr sz="1600">
                <a:solidFill>
                  <a:srgbClr val="FFFFFF"/>
                </a:solidFill>
              </a:rPr>
              <a:t> Laboratorios interactivos para practicar YAML y Playbooks en terminal real.
   Enlace: </a:t>
            </a:r>
            <a:r>
              <a:rPr sz="1600" u="sng">
                <a:solidFill>
                  <a:srgbClr val="FFFFFF"/>
                </a:solidFill>
              </a:rPr>
              <a:t>https://kodekloud.com/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735</Words>
  <Application>Microsoft Office PowerPoint</Application>
  <PresentationFormat>Panorámica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 Diaz</cp:lastModifiedBy>
  <cp:revision>2</cp:revision>
  <dcterms:created xsi:type="dcterms:W3CDTF">2013-01-27T09:14:16Z</dcterms:created>
  <dcterms:modified xsi:type="dcterms:W3CDTF">2026-07-06T19:03:39Z</dcterms:modified>
  <cp:category/>
</cp:coreProperties>
</file>