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37160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F8FAFC"/>
                </a:solidFill>
                <a:latin typeface="Arial"/>
              </a:defRPr>
            </a:pPr>
            <a:r>
              <a:t>Sesión 3: Redirección</a:t>
            </a:r>
            <a:br/>
            <a:r>
              <a:t>y Tuberías</a:t>
            </a:r>
          </a:p>
          <a:p>
            <a:pPr>
              <a:defRPr sz="2000">
                <a:solidFill>
                  <a:srgbClr val="64748B"/>
                </a:solidFill>
                <a:latin typeface="Arial"/>
              </a:defRPr>
            </a:pPr>
            <a:r>
              <a:t>Flujos de Datos Estándar (I/O) y Comandos de Procesamiento de Texto</a:t>
            </a:r>
            <a:br/>
            <a:r>
              <a:t>UCOM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Objetivos de la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1. </a:t>
            </a:r>
            <a:r>
              <a:rPr sz="1600" b="1">
                <a:solidFill>
                  <a:srgbClr val="0F172A"/>
                </a:solidFill>
                <a:latin typeface="Arial"/>
              </a:rPr>
              <a:t>Comprender</a:t>
            </a:r>
            <a:r>
              <a:rPr sz="1600" b="0">
                <a:solidFill>
                  <a:srgbClr val="0F172A"/>
                </a:solidFill>
                <a:latin typeface="Arial"/>
              </a:rPr>
              <a:t> el concepto de descriptores estándar de entrada, salida y errores (</a:t>
            </a:r>
            <a:r>
              <a:rPr sz="1600" b="1">
                <a:solidFill>
                  <a:srgbClr val="2563EB"/>
                </a:solidFill>
                <a:latin typeface="Consolas"/>
              </a:rPr>
              <a:t>STDIN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STDOUT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STDERR</a:t>
            </a:r>
            <a:r>
              <a:rPr sz="16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2. </a:t>
            </a:r>
            <a:r>
              <a:rPr sz="1600" b="1">
                <a:solidFill>
                  <a:srgbClr val="0F172A"/>
                </a:solidFill>
                <a:latin typeface="Arial"/>
              </a:rPr>
              <a:t>Comprender</a:t>
            </a:r>
            <a:r>
              <a:rPr sz="1600" b="0">
                <a:solidFill>
                  <a:srgbClr val="0F172A"/>
                </a:solidFill>
                <a:latin typeface="Arial"/>
              </a:rPr>
              <a:t> el concepto de redirección de entrada y salida para modificar el flujo de datos.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3. </a:t>
            </a:r>
            <a:r>
              <a:rPr sz="1600" b="1">
                <a:solidFill>
                  <a:srgbClr val="0F172A"/>
                </a:solidFill>
                <a:latin typeface="Arial"/>
              </a:rPr>
              <a:t>Aprender</a:t>
            </a:r>
            <a:r>
              <a:rPr sz="1600" b="0">
                <a:solidFill>
                  <a:srgbClr val="0F172A"/>
                </a:solidFill>
                <a:latin typeface="Arial"/>
              </a:rPr>
              <a:t> cómo utilizar tuberías (pipes) para combinar comandos de manera lineal y eficiente.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4. </a:t>
            </a:r>
            <a:r>
              <a:rPr sz="1600" b="1">
                <a:solidFill>
                  <a:srgbClr val="0F172A"/>
                </a:solidFill>
                <a:latin typeface="Arial"/>
              </a:rPr>
              <a:t>Familiarizarse</a:t>
            </a:r>
            <a:r>
              <a:rPr sz="1600" b="0">
                <a:solidFill>
                  <a:srgbClr val="0F172A"/>
                </a:solidFill>
                <a:latin typeface="Arial"/>
              </a:rPr>
              <a:t> con comandos básicos de procesamiento de texto (</a:t>
            </a:r>
            <a:r>
              <a:rPr sz="1600" b="1">
                <a:solidFill>
                  <a:srgbClr val="2563EB"/>
                </a:solidFill>
                <a:latin typeface="Consolas"/>
              </a:rPr>
              <a:t>cat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grep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sort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uniq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wc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head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tail</a:t>
            </a:r>
            <a:r>
              <a:rPr sz="16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5. </a:t>
            </a:r>
            <a:r>
              <a:rPr sz="1600" b="1">
                <a:solidFill>
                  <a:srgbClr val="0F172A"/>
                </a:solidFill>
                <a:latin typeface="Arial"/>
              </a:rPr>
              <a:t>Explorar</a:t>
            </a:r>
            <a:r>
              <a:rPr sz="1600" b="0">
                <a:solidFill>
                  <a:srgbClr val="0F172A"/>
                </a:solidFill>
                <a:latin typeface="Arial"/>
              </a:rPr>
              <a:t> cómo implementar redirección y tuberías en scripts de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Estructura de la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Descriptores Estándar</a:t>
            </a:r>
            <a:r>
              <a:rPr sz="1600" b="0">
                <a:solidFill>
                  <a:srgbClr val="0F172A"/>
                </a:solidFill>
                <a:latin typeface="Arial"/>
              </a:rPr>
              <a:t>: Canales predefinidos de E/S (</a:t>
            </a:r>
            <a:r>
              <a:rPr sz="1600" b="1">
                <a:solidFill>
                  <a:srgbClr val="2563EB"/>
                </a:solidFill>
                <a:latin typeface="Consolas"/>
              </a:rPr>
              <a:t>0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1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2</a:t>
            </a:r>
            <a:r>
              <a:rPr sz="16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Operadores de Redirección</a:t>
            </a:r>
            <a:r>
              <a:rPr sz="1600" b="0">
                <a:solidFill>
                  <a:srgbClr val="0F172A"/>
                </a:solidFill>
                <a:latin typeface="Arial"/>
              </a:rPr>
              <a:t>: Redirigir entrada, salida y errores (</a:t>
            </a:r>
            <a:r>
              <a:rPr sz="1600" b="1">
                <a:solidFill>
                  <a:srgbClr val="2563EB"/>
                </a:solidFill>
                <a:latin typeface="Consolas"/>
              </a:rPr>
              <a:t>&gt;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&gt;&gt;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&lt;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2&gt;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2&gt;&amp;1</a:t>
            </a:r>
            <a:r>
              <a:rPr sz="16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Tuberías (Pipes)</a:t>
            </a:r>
            <a:r>
              <a:rPr sz="1600" b="0">
                <a:solidFill>
                  <a:srgbClr val="0F172A"/>
                </a:solidFill>
                <a:latin typeface="Arial"/>
              </a:rPr>
              <a:t>: Enlace unidireccional de procesos con el carácter </a:t>
            </a:r>
            <a:r>
              <a:rPr sz="1600" b="1">
                <a:solidFill>
                  <a:srgbClr val="2563EB"/>
                </a:solidFill>
                <a:latin typeface="Consolas"/>
              </a:rPr>
              <a:t>|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Comandos de Procesamiento</a:t>
            </a:r>
            <a:r>
              <a:rPr sz="1600" b="0">
                <a:solidFill>
                  <a:srgbClr val="0F172A"/>
                </a:solidFill>
                <a:latin typeface="Arial"/>
              </a:rPr>
              <a:t>: Utilidades nativas para manipulación de flujos de texto.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Módulos de Python</a:t>
            </a:r>
            <a:r>
              <a:rPr sz="1600" b="0">
                <a:solidFill>
                  <a:srgbClr val="0F172A"/>
                </a:solidFill>
                <a:latin typeface="Arial"/>
              </a:rPr>
              <a:t>: Uso de </a:t>
            </a:r>
            <a:r>
              <a:rPr sz="1600" b="1">
                <a:solidFill>
                  <a:srgbClr val="2563EB"/>
                </a:solidFill>
                <a:latin typeface="Consolas"/>
              </a:rPr>
              <a:t>os</a:t>
            </a:r>
            <a:r>
              <a:rPr sz="1600" b="0">
                <a:solidFill>
                  <a:srgbClr val="0F172A"/>
                </a:solidFill>
                <a:latin typeface="Arial"/>
              </a:rPr>
              <a:t> y </a:t>
            </a:r>
            <a:r>
              <a:rPr sz="1600" b="1">
                <a:solidFill>
                  <a:srgbClr val="2563EB"/>
                </a:solidFill>
                <a:latin typeface="Consolas"/>
              </a:rPr>
              <a:t>subprocess</a:t>
            </a:r>
            <a:r>
              <a:rPr sz="1600" b="0">
                <a:solidFill>
                  <a:srgbClr val="0F172A"/>
                </a:solidFill>
                <a:latin typeface="Arial"/>
              </a:rPr>
              <a:t> para scripting y control de flujos.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Ejercicios</a:t>
            </a:r>
            <a:r>
              <a:rPr sz="1600" b="0">
                <a:solidFill>
                  <a:srgbClr val="0F172A"/>
                </a:solidFill>
                <a:latin typeface="Arial"/>
              </a:rPr>
              <a:t>: Práctica interactiva en terminal y Python.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Descriptores Estándar (Standard Streams)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En sistemas Unix y derivados (Linux), los </a:t>
            </a:r>
            <a:r>
              <a:rPr sz="1600" b="1">
                <a:solidFill>
                  <a:srgbClr val="0F172A"/>
                </a:solidFill>
                <a:latin typeface="Arial"/>
              </a:rPr>
              <a:t>Standard Streams</a:t>
            </a:r>
            <a:r>
              <a:rPr sz="1600" b="0">
                <a:solidFill>
                  <a:srgbClr val="0F172A"/>
                </a:solidFill>
                <a:latin typeface="Arial"/>
              </a:rPr>
              <a:t> son canales de comunicación predefinidos que se abren automáticamente al ejecutar un proceso:</a:t>
            </a:r>
          </a:p>
          <a:p>
            <a:pPr lvl="1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STDIN (Standard Input - Descriptor 0)</a:t>
            </a:r>
            <a:r>
              <a:rPr sz="1600" b="0">
                <a:solidFill>
                  <a:srgbClr val="0F172A"/>
                </a:solidFill>
                <a:latin typeface="Arial"/>
              </a:rPr>
              <a:t>: Canal de entrada del programa. Por defecto está conectado al teclado, pero se puede redirigir para leer de archivos o de otros procesos.</a:t>
            </a:r>
          </a:p>
          <a:p>
            <a:pPr lvl="1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STDOUT (Standard Output - Descriptor 1)</a:t>
            </a:r>
            <a:r>
              <a:rPr sz="1600" b="0">
                <a:solidFill>
                  <a:srgbClr val="0F172A"/>
                </a:solidFill>
                <a:latin typeface="Arial"/>
              </a:rPr>
              <a:t>: Canal de salida de datos del programa. Por defecto envía la salida a la consola/pantalla, pero se puede desviar hacia archivos u otros comandos.</a:t>
            </a:r>
          </a:p>
          <a:p>
            <a:pPr lvl="1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STDERR (Standard Error - Descriptor 2)</a:t>
            </a:r>
            <a:r>
              <a:rPr sz="1600" b="0">
                <a:solidFill>
                  <a:srgbClr val="0F172A"/>
                </a:solidFill>
                <a:latin typeface="Arial"/>
              </a:rPr>
              <a:t>: Canal exclusivo para mensajes de error del programa. Al igual que </a:t>
            </a:r>
            <a:r>
              <a:rPr sz="1600" b="1">
                <a:solidFill>
                  <a:srgbClr val="2563EB"/>
                </a:solidFill>
                <a:latin typeface="Consolas"/>
              </a:rPr>
              <a:t>STDOUT</a:t>
            </a:r>
            <a:r>
              <a:rPr sz="1600" b="0">
                <a:solidFill>
                  <a:srgbClr val="0F172A"/>
                </a:solidFill>
                <a:latin typeface="Arial"/>
              </a:rPr>
              <a:t>, imprime en la consola por defecto, pero se maneja por separado para facilitar el debugging.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REDIRECCIÓN DE ENTRADA Y SALIDA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El Concepto de Redirección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La </a:t>
            </a:r>
            <a:r>
              <a:rPr sz="1600" b="1">
                <a:solidFill>
                  <a:srgbClr val="0F172A"/>
                </a:solidFill>
                <a:latin typeface="Arial"/>
              </a:rPr>
              <a:t>redirección</a:t>
            </a:r>
            <a:r>
              <a:rPr sz="1600" b="0">
                <a:solidFill>
                  <a:srgbClr val="0F172A"/>
                </a:solidFill>
                <a:latin typeface="Arial"/>
              </a:rPr>
              <a:t> consiste en alterar las fuentes de entrada y destinos de salida predeterminados de un comando en la terminal.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Permite desviar el flujo de datos estándar para interactuar directamente con archivos en lugar del teclado y la pantalla.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Aplicaciones prácticas</a:t>
            </a:r>
            <a:r>
              <a:rPr sz="1600" b="0">
                <a:solidFill>
                  <a:srgbClr val="0F172A"/>
                </a:solidFill>
                <a:latin typeface="Arial"/>
              </a:rPr>
              <a:t>: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Guardar la salida de un reporte generado en un archivo de texto.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Almacenar registros de log o errores en un archivo independiente.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Pasar un archivo de configuración como entrada de un programa interactivo de forma automática.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REDIRECCIÓN DE ENTRADA Y SALIDA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Redirección de Salida: &gt; y &gt;&gt;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Operador `&gt;` (Sobrescribir)</a:t>
            </a:r>
            <a:r>
              <a:rPr sz="1500" b="0">
                <a:solidFill>
                  <a:srgbClr val="0F172A"/>
                </a:solidFill>
                <a:latin typeface="Arial"/>
              </a:rPr>
              <a:t>: Envía la salida de un comando a un archivo de texto.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Si el archivo de destino existe, </a:t>
            </a:r>
            <a:r>
              <a:rPr sz="1500" b="1">
                <a:solidFill>
                  <a:srgbClr val="0F172A"/>
                </a:solidFill>
                <a:latin typeface="Arial"/>
              </a:rPr>
              <a:t>elimina</a:t>
            </a:r>
            <a:r>
              <a:rPr sz="1500" b="0">
                <a:solidFill>
                  <a:srgbClr val="0F172A"/>
                </a:solidFill>
                <a:latin typeface="Arial"/>
              </a:rPr>
              <a:t> el contenido anterior y escribe el nuevo.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Si no existe, el shell crea el archivo automáticamente.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Operador `&gt;&gt;` (Anexar)</a:t>
            </a:r>
            <a:r>
              <a:rPr sz="1500" b="0">
                <a:solidFill>
                  <a:srgbClr val="0F172A"/>
                </a:solidFill>
                <a:latin typeface="Arial"/>
              </a:rPr>
              <a:t>: Envía la salida al archivo, pero agregándola al </a:t>
            </a:r>
            <a:r>
              <a:rPr sz="1500" b="1">
                <a:solidFill>
                  <a:srgbClr val="0F172A"/>
                </a:solidFill>
                <a:latin typeface="Arial"/>
              </a:rPr>
              <a:t>final</a:t>
            </a:r>
            <a:r>
              <a:rPr sz="1500" b="0">
                <a:solidFill>
                  <a:srgbClr val="0F172A"/>
                </a:solidFill>
                <a:latin typeface="Arial"/>
              </a:rPr>
              <a:t> del contenido existente.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Ideal para construir archivos históricos o acumuladores de eventos (logs).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Bash Terminal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Sobrescribir el archivo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echo "Hola, mundo!" &gt;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cat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Hola, mundo!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Anexar contenido al final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echo "Nueva línea" &gt;&gt;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cat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Hola, mundo!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Nueva línea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REDIRECCIÓN DE ENTRADA Y SALIDA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Entrada y Errores: &lt;, 2&gt; y 2&gt;&amp;1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Operador `&lt;` (Entrada)</a:t>
            </a:r>
            <a:r>
              <a:rPr sz="1500" b="0">
                <a:solidFill>
                  <a:srgbClr val="0F172A"/>
                </a:solidFill>
                <a:latin typeface="Arial"/>
              </a:rPr>
              <a:t>: Alimenta a un comando usando el contenido de un archivo en vez de esperar entrada por teclado.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Operador `2&gt;` (Errores)</a:t>
            </a:r>
            <a:r>
              <a:rPr sz="1500" b="0">
                <a:solidFill>
                  <a:srgbClr val="0F172A"/>
                </a:solidFill>
                <a:latin typeface="Arial"/>
              </a:rPr>
              <a:t>: Redirige de manera separada únicamente los mensajes de error (</a:t>
            </a:r>
            <a:r>
              <a:rPr sz="1500" b="1">
                <a:solidFill>
                  <a:srgbClr val="2563EB"/>
                </a:solidFill>
                <a:latin typeface="Consolas"/>
              </a:rPr>
              <a:t>STDERR</a:t>
            </a:r>
            <a:r>
              <a:rPr sz="1500" b="0">
                <a:solidFill>
                  <a:srgbClr val="0F172A"/>
                </a:solidFill>
                <a:latin typeface="Arial"/>
              </a:rPr>
              <a:t>) hacia un archivo.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Operador `2&gt;&amp;1` (Fusión)</a:t>
            </a:r>
            <a:r>
              <a:rPr sz="1500" b="0">
                <a:solidFill>
                  <a:srgbClr val="0F172A"/>
                </a:solidFill>
                <a:latin typeface="Arial"/>
              </a:rPr>
              <a:t>: Combina los descriptores </a:t>
            </a:r>
            <a:r>
              <a:rPr sz="1500" b="1">
                <a:solidFill>
                  <a:srgbClr val="2563EB"/>
                </a:solidFill>
                <a:latin typeface="Consolas"/>
              </a:rPr>
              <a:t>2</a:t>
            </a:r>
            <a:r>
              <a:rPr sz="1500" b="0">
                <a:solidFill>
                  <a:srgbClr val="0F172A"/>
                </a:solidFill>
                <a:latin typeface="Arial"/>
              </a:rPr>
              <a:t> (errores) y </a:t>
            </a:r>
            <a:r>
              <a:rPr sz="1500" b="1">
                <a:solidFill>
                  <a:srgbClr val="2563EB"/>
                </a:solidFill>
                <a:latin typeface="Consolas"/>
              </a:rPr>
              <a:t>1</a:t>
            </a:r>
            <a:r>
              <a:rPr sz="1500" b="0">
                <a:solidFill>
                  <a:srgbClr val="0F172A"/>
                </a:solidFill>
                <a:latin typeface="Arial"/>
              </a:rPr>
              <a:t> (salida estándar) para canalizarlos juntos al mismo destino.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Bash Terminal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Alimentar sort desde archivo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sort &lt; numeros.txt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Redirigir errores de comando inválido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comando_inexistente 2&gt; errores.txt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cat errores.txt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bash: comando_inexistente: no se...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Redirigir todo junto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comando &gt; log.txt 2&gt;&amp;1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SECCIÓN 01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Tuberías (Pipes) en Unix/Linux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TUBERÍAS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El Concepto de Tuberías (Pipes)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Las </a:t>
            </a:r>
            <a:r>
              <a:rPr sz="1600" b="1">
                <a:solidFill>
                  <a:srgbClr val="0F172A"/>
                </a:solidFill>
                <a:latin typeface="Arial"/>
              </a:rPr>
              <a:t>tuberías (pipes)</a:t>
            </a:r>
            <a:r>
              <a:rPr sz="1600" b="0">
                <a:solidFill>
                  <a:srgbClr val="0F172A"/>
                </a:solidFill>
                <a:latin typeface="Arial"/>
              </a:rPr>
              <a:t> conectan la salida estándar (</a:t>
            </a:r>
            <a:r>
              <a:rPr sz="1600" b="1">
                <a:solidFill>
                  <a:srgbClr val="2563EB"/>
                </a:solidFill>
                <a:latin typeface="Consolas"/>
              </a:rPr>
              <a:t>STDOUT</a:t>
            </a:r>
            <a:r>
              <a:rPr sz="1600" b="0">
                <a:solidFill>
                  <a:srgbClr val="0F172A"/>
                </a:solidFill>
                <a:latin typeface="Arial"/>
              </a:rPr>
              <a:t>) de un comando directamente con la entrada estándar (</a:t>
            </a:r>
            <a:r>
              <a:rPr sz="1600" b="1">
                <a:solidFill>
                  <a:srgbClr val="2563EB"/>
                </a:solidFill>
                <a:latin typeface="Consolas"/>
              </a:rPr>
              <a:t>STDIN</a:t>
            </a:r>
            <a:r>
              <a:rPr sz="1600" b="0">
                <a:solidFill>
                  <a:srgbClr val="0F172A"/>
                </a:solidFill>
                <a:latin typeface="Arial"/>
              </a:rPr>
              <a:t>) de otro.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Sintaxis</a:t>
            </a:r>
            <a:r>
              <a:rPr sz="1600" b="0">
                <a:solidFill>
                  <a:srgbClr val="0F172A"/>
                </a:solidFill>
                <a:latin typeface="Arial"/>
              </a:rPr>
              <a:t>: Se utiliza el carácter de barra vertical </a:t>
            </a:r>
            <a:r>
              <a:rPr sz="1600" b="1">
                <a:solidFill>
                  <a:srgbClr val="2563EB"/>
                </a:solidFill>
                <a:latin typeface="Consolas"/>
              </a:rPr>
              <a:t>|</a:t>
            </a:r>
            <a:r>
              <a:rPr sz="1600" b="0">
                <a:solidFill>
                  <a:srgbClr val="0F172A"/>
                </a:solidFill>
                <a:latin typeface="Arial"/>
              </a:rPr>
              <a:t> entre comandos (ej. </a:t>
            </a:r>
            <a:r>
              <a:rPr sz="1600" b="1">
                <a:solidFill>
                  <a:srgbClr val="2563EB"/>
                </a:solidFill>
                <a:latin typeface="Consolas"/>
              </a:rPr>
              <a:t>comando1 | comando2</a:t>
            </a:r>
            <a:r>
              <a:rPr sz="16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Flujo Directo</a:t>
            </a:r>
            <a:r>
              <a:rPr sz="1600" b="0">
                <a:solidFill>
                  <a:srgbClr val="0F172A"/>
                </a:solidFill>
                <a:latin typeface="Arial"/>
              </a:rPr>
              <a:t>: Evita la necesidad de almacenar resultados intermedios en archivos temporales dentro del disco.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El sistema operativo ejecuta ambos procesos en paralelo, y la información fluye de forma unidireccional y secuencial a nivel de memoria RAM.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Representa fielmente la </a:t>
            </a:r>
            <a:r>
              <a:rPr sz="1600" b="1">
                <a:solidFill>
                  <a:srgbClr val="0F172A"/>
                </a:solidFill>
                <a:latin typeface="Arial"/>
              </a:rPr>
              <a:t>filosofía de Unix</a:t>
            </a:r>
            <a:r>
              <a:rPr sz="1600" b="0">
                <a:solidFill>
                  <a:srgbClr val="0F172A"/>
                </a:solidFill>
                <a:latin typeface="Arial"/>
              </a:rPr>
              <a:t>: diseñar comandos pequeños y especializados que puedan combinarse para resolver problemas complejos.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TUBERÍAS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Ejemplos Prácticos de Tuberías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Las tuberías permiten construir flujos de procesamiento muy potentes encadenando múltiples utilidades básicas de terminal: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Ejemplo 1</a:t>
            </a:r>
            <a:r>
              <a:rPr sz="1500" b="0">
                <a:solidFill>
                  <a:srgbClr val="0F172A"/>
                </a:solidFill>
                <a:latin typeface="Arial"/>
              </a:rPr>
              <a:t>: Filtrar archivos con extensión específica en una lista.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Ejemplo 2</a:t>
            </a:r>
            <a:r>
              <a:rPr sz="1500" b="0">
                <a:solidFill>
                  <a:srgbClr val="0F172A"/>
                </a:solidFill>
                <a:latin typeface="Arial"/>
              </a:rPr>
              <a:t>: Buscar un término exacto en un archivo y calcular el número total de ocurrencias.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Ejemplo 3</a:t>
            </a:r>
            <a:r>
              <a:rPr sz="1500" b="0">
                <a:solidFill>
                  <a:srgbClr val="0F172A"/>
                </a:solidFill>
                <a:latin typeface="Arial"/>
              </a:rPr>
              <a:t>: Listar los 10 procesos del sistema que más consumen CPU.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Bash Terminal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Filtrar por extensión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ls | grep ".txt"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archivo1.txt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Buscar coincidencias y contarlas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cat log.txt | grep "error" | wc -l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1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Listar top 10 procesos de CPU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ps aux | sort -nrk 3,3 | head -n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SECCIÓN 02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Comandos Básicos de Procesamiento de Texto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COMANDOS DE 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Visualizar, Buscar y Ordenar: cat, grep, sort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`cat` (Concatenate)</a:t>
            </a:r>
            <a:r>
              <a:rPr sz="1500" b="0">
                <a:solidFill>
                  <a:srgbClr val="0F172A"/>
                </a:solidFill>
                <a:latin typeface="Arial"/>
              </a:rPr>
              <a:t>: Abre y muestra el contenido completo de uno o más archivos de texto en la terminal.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`grep`</a:t>
            </a:r>
            <a:r>
              <a:rPr sz="1500" b="0">
                <a:solidFill>
                  <a:srgbClr val="0F172A"/>
                </a:solidFill>
                <a:latin typeface="Arial"/>
              </a:rPr>
              <a:t>: Filtra y muestra únicamente las líneas que coinciden con un patrón o expresión regular de búsqueda.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`sort`</a:t>
            </a:r>
            <a:r>
              <a:rPr sz="1500" b="0">
                <a:solidFill>
                  <a:srgbClr val="0F172A"/>
                </a:solidFill>
                <a:latin typeface="Arial"/>
              </a:rPr>
              <a:t>: Ordena las líneas de texto alfabéticamente por defecto.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Opción </a:t>
            </a:r>
            <a:r>
              <a:rPr sz="1500" b="1">
                <a:solidFill>
                  <a:srgbClr val="2563EB"/>
                </a:solidFill>
                <a:latin typeface="Consolas"/>
              </a:rPr>
              <a:t>-n</a:t>
            </a:r>
            <a:r>
              <a:rPr sz="1500" b="0">
                <a:solidFill>
                  <a:srgbClr val="0F172A"/>
                </a:solidFill>
                <a:latin typeface="Arial"/>
              </a:rPr>
              <a:t>: Ordenamiento de valores de forma numérica.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Opción </a:t>
            </a:r>
            <a:r>
              <a:rPr sz="1500" b="1">
                <a:solidFill>
                  <a:srgbClr val="2563EB"/>
                </a:solidFill>
                <a:latin typeface="Consolas"/>
              </a:rPr>
              <a:t>-r</a:t>
            </a:r>
            <a:r>
              <a:rPr sz="1500" b="0">
                <a:solidFill>
                  <a:srgbClr val="0F172A"/>
                </a:solidFill>
                <a:latin typeface="Arial"/>
              </a:rPr>
              <a:t>: Invierte el orden (descendente).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Bash Terminal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Mostrar archivo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cat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Buscar la palabra 'palabra'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grep "palabra"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2 palabras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Ordenar archivo de texto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sort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a veces aparece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linea 0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z calmil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COMANDOS DE 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Conteo y Extracción: uniq, wc, head, 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`uniq` (Unique)</a:t>
            </a:r>
            <a:r>
              <a:rPr sz="1500" b="0">
                <a:solidFill>
                  <a:srgbClr val="0F172A"/>
                </a:solidFill>
                <a:latin typeface="Arial"/>
              </a:rPr>
              <a:t>: Descarta líneas duplicadas que estén consecutivas en el texto. (Suele usarse junto con </a:t>
            </a:r>
            <a:r>
              <a:rPr sz="1500" b="1">
                <a:solidFill>
                  <a:srgbClr val="2563EB"/>
                </a:solidFill>
                <a:latin typeface="Consolas"/>
              </a:rPr>
              <a:t>sort</a:t>
            </a:r>
            <a:r>
              <a:rPr sz="15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`wc` (Word Count)</a:t>
            </a:r>
            <a:r>
              <a:rPr sz="1500" b="0">
                <a:solidFill>
                  <a:srgbClr val="0F172A"/>
                </a:solidFill>
                <a:latin typeface="Arial"/>
              </a:rPr>
              <a:t>: Cuenta elementos en el archivo. Opciones comunes: </a:t>
            </a:r>
            <a:r>
              <a:rPr sz="1500" b="1">
                <a:solidFill>
                  <a:srgbClr val="2563EB"/>
                </a:solidFill>
                <a:latin typeface="Consolas"/>
              </a:rPr>
              <a:t>-l</a:t>
            </a:r>
            <a:r>
              <a:rPr sz="1500" b="0">
                <a:solidFill>
                  <a:srgbClr val="0F172A"/>
                </a:solidFill>
                <a:latin typeface="Arial"/>
              </a:rPr>
              <a:t> (líneas), </a:t>
            </a:r>
            <a:r>
              <a:rPr sz="1500" b="1">
                <a:solidFill>
                  <a:srgbClr val="2563EB"/>
                </a:solidFill>
                <a:latin typeface="Consolas"/>
              </a:rPr>
              <a:t>-w</a:t>
            </a:r>
            <a:r>
              <a:rPr sz="1500" b="0">
                <a:solidFill>
                  <a:srgbClr val="0F172A"/>
                </a:solidFill>
                <a:latin typeface="Arial"/>
              </a:rPr>
              <a:t> (palabras), </a:t>
            </a:r>
            <a:r>
              <a:rPr sz="1500" b="1">
                <a:solidFill>
                  <a:srgbClr val="2563EB"/>
                </a:solidFill>
                <a:latin typeface="Consolas"/>
              </a:rPr>
              <a:t>-c</a:t>
            </a:r>
            <a:r>
              <a:rPr sz="1500" b="0">
                <a:solidFill>
                  <a:srgbClr val="0F172A"/>
                </a:solidFill>
                <a:latin typeface="Arial"/>
              </a:rPr>
              <a:t> (caracteres).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`head` / `tail`</a:t>
            </a:r>
            <a:r>
              <a:rPr sz="1500" b="0">
                <a:solidFill>
                  <a:srgbClr val="0F172A"/>
                </a:solidFill>
                <a:latin typeface="Arial"/>
              </a:rPr>
              <a:t>: Extraen porciones iniciales o finales del archivo. La opción </a:t>
            </a:r>
            <a:r>
              <a:rPr sz="1500" b="1">
                <a:solidFill>
                  <a:srgbClr val="2563EB"/>
                </a:solidFill>
                <a:latin typeface="Consolas"/>
              </a:rPr>
              <a:t>-n [N]</a:t>
            </a:r>
            <a:r>
              <a:rPr sz="1500" b="0">
                <a:solidFill>
                  <a:srgbClr val="0F172A"/>
                </a:solidFill>
                <a:latin typeface="Arial"/>
              </a:rPr>
              <a:t> define la cantidad de líneas.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Bash Terminal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Eliminar duplicados consecutivos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sort archivo.txt | uniq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Contar líneas totales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wc -l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4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Ver primeras y últimas 2 líneas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head -n 2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tail -n 2 archivo.txt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SECCIÓN 03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Redirección y Tuberías en Python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Manejo de Flujos y Subprocesos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Python ofrece soporte para interactuar con los descriptores de archivos del sistema operativo y manejar flujos avanzados de datos: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Módulo `os`</a:t>
            </a:r>
            <a:r>
              <a:rPr sz="1600" b="0">
                <a:solidFill>
                  <a:srgbClr val="0F172A"/>
                </a:solidFill>
                <a:latin typeface="Arial"/>
              </a:rPr>
              <a:t>: Brinda acceso a llamadas del sistema de bajo nivel, como </a:t>
            </a:r>
            <a:r>
              <a:rPr sz="1600" b="1">
                <a:solidFill>
                  <a:srgbClr val="2563EB"/>
                </a:solidFill>
                <a:latin typeface="Consolas"/>
              </a:rPr>
              <a:t>os.dup2(fd, newfd)</a:t>
            </a:r>
            <a:r>
              <a:rPr sz="1600" b="0">
                <a:solidFill>
                  <a:srgbClr val="0F172A"/>
                </a:solidFill>
                <a:latin typeface="Arial"/>
              </a:rPr>
              <a:t> que permite redirigir descriptores a otros canales abiertos.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Módulo `sys`</a:t>
            </a:r>
            <a:r>
              <a:rPr sz="1600" b="0">
                <a:solidFill>
                  <a:srgbClr val="0F172A"/>
                </a:solidFill>
                <a:latin typeface="Arial"/>
              </a:rPr>
              <a:t>: Accede directamente a los canales estándar del intérprete (</a:t>
            </a:r>
            <a:r>
              <a:rPr sz="1600" b="1">
                <a:solidFill>
                  <a:srgbClr val="2563EB"/>
                </a:solidFill>
                <a:latin typeface="Consolas"/>
              </a:rPr>
              <a:t>sys.stdin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sys.stdout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sys.stderr</a:t>
            </a:r>
            <a:r>
              <a:rPr sz="16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Módulo `subprocess`</a:t>
            </a:r>
            <a:r>
              <a:rPr sz="1600" b="0">
                <a:solidFill>
                  <a:srgbClr val="0F172A"/>
                </a:solidFill>
                <a:latin typeface="Arial"/>
              </a:rPr>
              <a:t>: Es la herramienta estándar recomendada para ejecutar programas externos, administrar sus procesos secundarios y conectar tuberías usando </a:t>
            </a:r>
            <a:r>
              <a:rPr sz="1600" b="1">
                <a:solidFill>
                  <a:srgbClr val="2563EB"/>
                </a:solidFill>
                <a:latin typeface="Consolas"/>
              </a:rPr>
              <a:t>subprocess.PIPE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Redirección de Salida con os.dup2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La función </a:t>
            </a:r>
            <a:r>
              <a:rPr sz="1500" b="1">
                <a:solidFill>
                  <a:srgbClr val="0F172A"/>
                </a:solidFill>
                <a:latin typeface="Arial"/>
              </a:rPr>
              <a:t>`os.dup2(fd, newfd)`</a:t>
            </a:r>
            <a:r>
              <a:rPr sz="1500" b="0">
                <a:solidFill>
                  <a:srgbClr val="0F172A"/>
                </a:solidFill>
                <a:latin typeface="Arial"/>
              </a:rPr>
              <a:t> permite reemplazar un descriptor por otro.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Al duplicar el identificador numérico de un archivo en el canal </a:t>
            </a:r>
            <a:r>
              <a:rPr sz="1500" b="1">
                <a:solidFill>
                  <a:srgbClr val="2563EB"/>
                </a:solidFill>
                <a:latin typeface="Consolas"/>
              </a:rPr>
              <a:t>1</a:t>
            </a:r>
            <a:r>
              <a:rPr sz="1500" b="0">
                <a:solidFill>
                  <a:srgbClr val="0F172A"/>
                </a:solidFill>
                <a:latin typeface="Arial"/>
              </a:rPr>
              <a:t> (</a:t>
            </a:r>
            <a:r>
              <a:rPr sz="1500" b="1">
                <a:solidFill>
                  <a:srgbClr val="2563EB"/>
                </a:solidFill>
                <a:latin typeface="Consolas"/>
              </a:rPr>
              <a:t>STDOUT</a:t>
            </a:r>
            <a:r>
              <a:rPr sz="1500" b="0">
                <a:solidFill>
                  <a:srgbClr val="0F172A"/>
                </a:solidFill>
                <a:latin typeface="Arial"/>
              </a:rPr>
              <a:t>), toda salida del programa será desviada al archivo físico.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Cualquier instrucción </a:t>
            </a:r>
            <a:r>
              <a:rPr sz="1500" b="1">
                <a:solidFill>
                  <a:srgbClr val="2563EB"/>
                </a:solidFill>
                <a:latin typeface="Consolas"/>
              </a:rPr>
              <a:t>print()</a:t>
            </a:r>
            <a:r>
              <a:rPr sz="1500" b="0">
                <a:solidFill>
                  <a:srgbClr val="0F172A"/>
                </a:solidFill>
                <a:latin typeface="Arial"/>
              </a:rPr>
              <a:t> en Python escribirá en el archivo directamente en lugar de la pantalla.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Recuerda cerrar el archivo (</a:t>
            </a:r>
            <a:r>
              <a:rPr sz="1500" b="1">
                <a:solidFill>
                  <a:srgbClr val="2563EB"/>
                </a:solidFill>
                <a:latin typeface="Consolas"/>
              </a:rPr>
              <a:t>.close()</a:t>
            </a:r>
            <a:r>
              <a:rPr sz="1500" b="0">
                <a:solidFill>
                  <a:srgbClr val="0F172A"/>
                </a:solidFill>
                <a:latin typeface="Arial"/>
              </a:rPr>
              <a:t>) para liberar y guardar la información.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Python Script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#!/usr/bin/env python3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import os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Abrir el archivo de salida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file = open("archivo.txt", "w")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Redirigir STDOUT (1) al archivo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os.dup2(file.fileno(), 1)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Esta salida irá a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print("Hola, mundo!")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Cerrar descriptor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file.close()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Implementar Tuberías con subprocess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Para imitar el comportamiento del operador </a:t>
            </a:r>
            <a:r>
              <a:rPr sz="1500" b="1">
                <a:solidFill>
                  <a:srgbClr val="2563EB"/>
                </a:solidFill>
                <a:latin typeface="Consolas"/>
              </a:rPr>
              <a:t>|</a:t>
            </a:r>
            <a:r>
              <a:rPr sz="1500" b="0">
                <a:solidFill>
                  <a:srgbClr val="0F172A"/>
                </a:solidFill>
                <a:latin typeface="Arial"/>
              </a:rPr>
              <a:t> de Bash, usamos el constructor </a:t>
            </a:r>
            <a:r>
              <a:rPr sz="1500" b="1">
                <a:solidFill>
                  <a:srgbClr val="2563EB"/>
                </a:solidFill>
                <a:latin typeface="Consolas"/>
              </a:rPr>
              <a:t>subprocess.Popen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Configurando el parámetro </a:t>
            </a:r>
            <a:r>
              <a:rPr sz="1500" b="1">
                <a:solidFill>
                  <a:srgbClr val="2563EB"/>
                </a:solidFill>
                <a:latin typeface="Consolas"/>
              </a:rPr>
              <a:t>stdout=subprocess.PIPE</a:t>
            </a:r>
            <a:r>
              <a:rPr sz="1500" b="0">
                <a:solidFill>
                  <a:srgbClr val="0F172A"/>
                </a:solidFill>
                <a:latin typeface="Arial"/>
              </a:rPr>
              <a:t> de un proceso de origen, podemos enviarlo como parámetro </a:t>
            </a:r>
            <a:r>
              <a:rPr sz="1500" b="1">
                <a:solidFill>
                  <a:srgbClr val="2563EB"/>
                </a:solidFill>
                <a:latin typeface="Consolas"/>
              </a:rPr>
              <a:t>stdin</a:t>
            </a:r>
            <a:r>
              <a:rPr sz="1500" b="0">
                <a:solidFill>
                  <a:srgbClr val="0F172A"/>
                </a:solidFill>
                <a:latin typeface="Arial"/>
              </a:rPr>
              <a:t> del proceso destino.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El método </a:t>
            </a:r>
            <a:r>
              <a:rPr sz="1500" b="1">
                <a:solidFill>
                  <a:srgbClr val="2563EB"/>
                </a:solidFill>
                <a:latin typeface="Consolas"/>
              </a:rPr>
              <a:t>.communicate()</a:t>
            </a:r>
            <a:r>
              <a:rPr sz="1500" b="0">
                <a:solidFill>
                  <a:srgbClr val="0F172A"/>
                </a:solidFill>
                <a:latin typeface="Arial"/>
              </a:rPr>
              <a:t> ejecuta los procesos y captura la salida resultante.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Python Script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#!/usr/bin/env python3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import subprocess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Proceso 1: cat lorem-ipsum.txt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p1 = subprocess.Popen(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["cat", "lorem-ipsum.txt"], 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stdout=subprocess.PIPE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Proceso 2: wc -l (recibe de p1)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p2 = subprocess.Popen(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["wc", "-l"], 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stdin=p1.stdout, 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stdout=subprocess.PIPE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Obtener salida del Proceso 2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salida = p2.communicate()[0]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print("Líneas:", salida.decode().strip())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Ejercicios Prácticos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1. Redirección de Salida</a:t>
            </a:r>
            <a:r>
              <a:rPr sz="1600" b="0">
                <a:solidFill>
                  <a:srgbClr val="0F172A"/>
                </a:solidFill>
                <a:latin typeface="Arial"/>
              </a:rPr>
              <a:t>: Crear </a:t>
            </a:r>
            <a:r>
              <a:rPr sz="1600" b="1">
                <a:solidFill>
                  <a:srgbClr val="2563EB"/>
                </a:solidFill>
                <a:latin typeface="Consolas"/>
              </a:rPr>
              <a:t>archivo.txt</a:t>
            </a:r>
            <a:r>
              <a:rPr sz="1600" b="0">
                <a:solidFill>
                  <a:srgbClr val="0F172A"/>
                </a:solidFill>
                <a:latin typeface="Arial"/>
              </a:rPr>
              <a:t> con "Hola, mundo!" y desviar la lista de archivos de </a:t>
            </a:r>
            <a:r>
              <a:rPr sz="1600" b="1">
                <a:solidFill>
                  <a:srgbClr val="2563EB"/>
                </a:solidFill>
                <a:latin typeface="Consolas"/>
              </a:rPr>
              <a:t>ls</a:t>
            </a:r>
            <a:r>
              <a:rPr sz="1600" b="0">
                <a:solidFill>
                  <a:srgbClr val="0F172A"/>
                </a:solidFill>
                <a:latin typeface="Arial"/>
              </a:rPr>
              <a:t> a </a:t>
            </a:r>
            <a:r>
              <a:rPr sz="1600" b="1">
                <a:solidFill>
                  <a:srgbClr val="2563EB"/>
                </a:solidFill>
                <a:latin typeface="Consolas"/>
              </a:rPr>
              <a:t>lista_archivos.txt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2. Redirección de Entrada</a:t>
            </a:r>
            <a:r>
              <a:rPr sz="1600" b="0">
                <a:solidFill>
                  <a:srgbClr val="0F172A"/>
                </a:solidFill>
                <a:latin typeface="Arial"/>
              </a:rPr>
              <a:t>: Crear </a:t>
            </a:r>
            <a:r>
              <a:rPr sz="1600" b="1">
                <a:solidFill>
                  <a:srgbClr val="2563EB"/>
                </a:solidFill>
                <a:latin typeface="Consolas"/>
              </a:rPr>
              <a:t>numeros.txt</a:t>
            </a:r>
            <a:r>
              <a:rPr sz="1600" b="0">
                <a:solidFill>
                  <a:srgbClr val="0F172A"/>
                </a:solidFill>
                <a:latin typeface="Arial"/>
              </a:rPr>
              <a:t> (1 al 10 en líneas separadas) y redirigir la entrada de </a:t>
            </a:r>
            <a:r>
              <a:rPr sz="1600" b="1">
                <a:solidFill>
                  <a:srgbClr val="2563EB"/>
                </a:solidFill>
                <a:latin typeface="Consolas"/>
              </a:rPr>
              <a:t>sort</a:t>
            </a:r>
            <a:r>
              <a:rPr sz="1600" b="0">
                <a:solidFill>
                  <a:srgbClr val="0F172A"/>
                </a:solidFill>
                <a:latin typeface="Arial"/>
              </a:rPr>
              <a:t> para ordenarlo.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3. Tuberías (Shell)</a:t>
            </a:r>
            <a:r>
              <a:rPr sz="1600" b="0">
                <a:solidFill>
                  <a:srgbClr val="0F172A"/>
                </a:solidFill>
                <a:latin typeface="Arial"/>
              </a:rPr>
              <a:t>: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a. Listar archivos que contengan la letra 'a' combinando </a:t>
            </a:r>
            <a:r>
              <a:rPr sz="1600" b="1">
                <a:solidFill>
                  <a:srgbClr val="2563EB"/>
                </a:solidFill>
                <a:latin typeface="Consolas"/>
              </a:rPr>
              <a:t>ls</a:t>
            </a:r>
            <a:r>
              <a:rPr sz="1600" b="0">
                <a:solidFill>
                  <a:srgbClr val="0F172A"/>
                </a:solidFill>
                <a:latin typeface="Arial"/>
              </a:rPr>
              <a:t> y </a:t>
            </a:r>
            <a:r>
              <a:rPr sz="1600" b="1">
                <a:solidFill>
                  <a:srgbClr val="2563EB"/>
                </a:solidFill>
                <a:latin typeface="Consolas"/>
              </a:rPr>
              <a:t>grep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b. Contar líneas que contengan 'Unix' en un archivo con </a:t>
            </a:r>
            <a:r>
              <a:rPr sz="1600" b="1">
                <a:solidFill>
                  <a:srgbClr val="2563EB"/>
                </a:solidFill>
                <a:latin typeface="Consolas"/>
              </a:rPr>
              <a:t>cat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grep</a:t>
            </a:r>
            <a:r>
              <a:rPr sz="1600" b="0">
                <a:solidFill>
                  <a:srgbClr val="0F172A"/>
                </a:solidFill>
                <a:latin typeface="Arial"/>
              </a:rPr>
              <a:t> y </a:t>
            </a:r>
            <a:r>
              <a:rPr sz="1600" b="1">
                <a:solidFill>
                  <a:srgbClr val="2563EB"/>
                </a:solidFill>
                <a:latin typeface="Consolas"/>
              </a:rPr>
              <a:t>wc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4. Scripting en Python (Stdin / Argumento)</a:t>
            </a:r>
            <a:r>
              <a:rPr sz="1600" b="0">
                <a:solidFill>
                  <a:srgbClr val="0F172A"/>
                </a:solidFill>
                <a:latin typeface="Arial"/>
              </a:rPr>
              <a:t>: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a. Escribir un programa que reciba una ruta como argumento o lea de </a:t>
            </a:r>
            <a:r>
              <a:rPr sz="1600" b="1">
                <a:solidFill>
                  <a:srgbClr val="2563EB"/>
                </a:solidFill>
                <a:latin typeface="Consolas"/>
              </a:rPr>
              <a:t>sys.stdin</a:t>
            </a:r>
            <a:r>
              <a:rPr sz="1600" b="0">
                <a:solidFill>
                  <a:srgbClr val="0F172A"/>
                </a:solidFill>
                <a:latin typeface="Arial"/>
              </a:rPr>
              <a:t> e imprima su contenido en pantalla.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b. Implementar una función que calcule y devuelva el número de palabras de un texto recibido por terminal.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RECURSOS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Recursos y Lecturas Recomendadas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Libro Guía Principal</a:t>
            </a:r>
            <a:r>
              <a:rPr sz="1600" b="0">
                <a:solidFill>
                  <a:srgbClr val="0F172A"/>
                </a:solidFill>
                <a:latin typeface="Arial"/>
              </a:rPr>
              <a:t>: *"El entorno de programación UNIX"* - Capítulo 3 (Kernighan &amp; Pike). Aborda el diseño de comandos Unix y el sistema de E/S.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Referencia Externa</a:t>
            </a:r>
            <a:r>
              <a:rPr sz="1600" b="0">
                <a:solidFill>
                  <a:srgbClr val="0F172A"/>
                </a:solidFill>
                <a:latin typeface="Arial"/>
              </a:rPr>
              <a:t>: Wikipedia: *Flujos de datos estándares* para profundizar en el manejo de descriptores a nivel de Kernel.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Documentación de Python</a:t>
            </a:r>
            <a:r>
              <a:rPr sz="1600" b="0">
                <a:solidFill>
                  <a:srgbClr val="0F172A"/>
                </a:solidFill>
                <a:latin typeface="Arial"/>
              </a:rPr>
              <a:t>: Módulos </a:t>
            </a:r>
            <a:r>
              <a:rPr sz="1600" b="1">
                <a:solidFill>
                  <a:srgbClr val="2563EB"/>
                </a:solidFill>
                <a:latin typeface="Consolas"/>
              </a:rPr>
              <a:t>sys</a:t>
            </a:r>
            <a:r>
              <a:rPr sz="1600" b="0">
                <a:solidFill>
                  <a:srgbClr val="0F172A"/>
                </a:solidFill>
                <a:latin typeface="Arial"/>
              </a:rPr>
              <a:t> y </a:t>
            </a:r>
            <a:r>
              <a:rPr sz="1600" b="1">
                <a:solidFill>
                  <a:srgbClr val="2563EB"/>
                </a:solidFill>
                <a:latin typeface="Consolas"/>
              </a:rPr>
              <a:t>subprocess</a:t>
            </a:r>
            <a:r>
              <a:rPr sz="1600" b="0">
                <a:solidFill>
                  <a:srgbClr val="0F172A"/>
                </a:solidFill>
                <a:latin typeface="Arial"/>
              </a:rPr>
              <a:t> en la guía de Python 3.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Ayuda Interactiva</a:t>
            </a:r>
            <a:r>
              <a:rPr sz="1600" b="0">
                <a:solidFill>
                  <a:srgbClr val="0F172A"/>
                </a:solidFill>
                <a:latin typeface="Arial"/>
              </a:rPr>
              <a:t>: Consulta el manual de Bash mediante </a:t>
            </a:r>
            <a:r>
              <a:rPr sz="1600" b="1">
                <a:solidFill>
                  <a:srgbClr val="2563EB"/>
                </a:solidFill>
                <a:latin typeface="Consolas"/>
              </a:rPr>
              <a:t>man [comando]</a:t>
            </a:r>
            <a:r>
              <a:rPr sz="1600" b="0">
                <a:solidFill>
                  <a:srgbClr val="0F172A"/>
                </a:solidFill>
                <a:latin typeface="Arial"/>
              </a:rPr>
              <a:t> en la terminal (ej: </a:t>
            </a:r>
            <a:r>
              <a:rPr sz="1600" b="1">
                <a:solidFill>
                  <a:srgbClr val="2563EB"/>
                </a:solidFill>
                <a:latin typeface="Consolas"/>
              </a:rPr>
              <a:t>man grep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man uniq</a:t>
            </a:r>
            <a:r>
              <a:rPr sz="1600" b="0">
                <a:solidFill>
                  <a:srgbClr val="0F172A"/>
                </a:solidFill>
                <a:latin typeface="Arial"/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