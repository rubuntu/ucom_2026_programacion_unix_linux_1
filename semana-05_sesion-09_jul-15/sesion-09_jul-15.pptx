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Sesión 09: Data Science at the CLI &amp; Git</a:t>
            </a:r>
          </a:p>
          <a:p>
            <a:pPr>
              <a:spcBef>
                <a:spcPts val="1400"/>
              </a:spcBef>
              <a:defRPr sz="1800">
                <a:solidFill>
                  <a:srgbClr val="0EA5E9"/>
                </a:solidFill>
                <a:latin typeface="Arial"/>
              </a:defRPr>
            </a:pPr>
            <a:r>
              <a:t>Desarrollo de los Capítulos 1, 2 y 3 del libro Data Science at the Command Line (2e) y Tutorial Básico de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99713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Curso: Programación Unix / Linux 1  •  UCOM 2026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Tema 1: Data Science at the Command Line (Capítulos 1, 2 y 3 de Jeroen Janssens)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</a:defRPr>
            </a:pPr>
            <a:r>
              <a:t>• Tema 2: Control de Versiones con Git (Flujo de trabajo, repositorios y ramas)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Agenda de la Sesión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1. Capítulo 1: Introducción a DS at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Filosofía y Agilidad: </a:t>
            </a:r>
            <a:r>
              <a:rPr b="0" sz="1200">
                <a:solidFill>
                  <a:srgbClr val="475569"/>
                </a:solidFill>
              </a:rPr>
              <a:t>Por qué utilizar la línea de comandos para datos.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Modelo OSEMN: </a:t>
            </a:r>
            <a:r>
              <a:rPr b="0" sz="1200">
                <a:solidFill>
                  <a:srgbClr val="475569"/>
                </a:solidFill>
              </a:rPr>
              <a:t>Obtain, Scrub, Explore, Model, iNterpret.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Ventajas clave: </a:t>
            </a:r>
            <a:r>
              <a:rPr b="0" sz="1200">
                <a:solidFill>
                  <a:srgbClr val="475569"/>
                </a:solidFill>
              </a:rPr>
              <a:t>Escalabilidad, extensibilidad y ubicuidad.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2. Capítulo 2: Primeros Pasos &amp; Conceptos Unix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Entorno Unix: </a:t>
            </a:r>
            <a:r>
              <a:rPr b="0" sz="1200">
                <a:solidFill>
                  <a:srgbClr val="475569"/>
                </a:solidFill>
              </a:rPr>
              <a:t>Variables del sistema ($PATH, $HOME).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5 Tipos de Comandos: </a:t>
            </a:r>
            <a:r>
              <a:rPr b="0" sz="1200">
                <a:solidFill>
                  <a:srgbClr val="475569"/>
                </a:solidFill>
              </a:rPr>
              <a:t>Built-ins, Executables, Aliases, Functions, Scripts.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Tuberías y Redirección: </a:t>
            </a:r>
            <a:r>
              <a:rPr b="0" sz="1200">
                <a:solidFill>
                  <a:srgbClr val="475569"/>
                </a:solidFill>
              </a:rPr>
              <a:t>Uso de |, &gt;, &gt;&gt;, &lt;, 2&gt; para encadenar procesamientos.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3. Capítulo 3: Obtención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Descarga con curl: </a:t>
            </a:r>
            <a:r>
              <a:rPr b="0" sz="1200">
                <a:solidFill>
                  <a:srgbClr val="475569"/>
                </a:solidFill>
              </a:rPr>
              <a:t>Descargas HTTP/HTTPS/FTP, headers y autenticación.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Formatos y Descompresión: </a:t>
            </a:r>
            <a:r>
              <a:rPr b="0" sz="1200">
                <a:solidFill>
                  <a:srgbClr val="475569"/>
                </a:solidFill>
              </a:rPr>
              <a:t>Trabajo con tar, zip, bz2 y conversión de Excel.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APIs y Bases de Datos: </a:t>
            </a:r>
            <a:r>
              <a:rPr b="0" sz="1200">
                <a:solidFill>
                  <a:srgbClr val="475569"/>
                </a:solidFill>
              </a:rPr>
              <a:t>Consultas a SQLite/PostgreSQL y procesamiento JSON con jq.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38404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2415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4. Tutorial Básico de 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Configuración Inicial: </a:t>
            </a:r>
            <a:r>
              <a:rPr b="0" sz="1200">
                <a:solidFill>
                  <a:srgbClr val="475569"/>
                </a:solidFill>
              </a:rPr>
              <a:t>Identidad del desarrollador (user.name, user.email).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Flujo Local: </a:t>
            </a:r>
            <a:r>
              <a:rPr b="0" sz="1200">
                <a:solidFill>
                  <a:srgbClr val="475569"/>
                </a:solidFill>
              </a:rPr>
              <a:t>git init, git status, git add, git commit.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Ramas y Remoto: </a:t>
            </a:r>
            <a:r>
              <a:rPr b="0" sz="1200">
                <a:solidFill>
                  <a:srgbClr val="475569"/>
                </a:solidFill>
              </a:rPr>
              <a:t>Creación de ramas, merges y sincronización con GitHub/GitLab.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1 •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1: ¿Por qué la Ciencia de Datos en la CLI?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Razones Principales para usar la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Agilidad: </a:t>
            </a:r>
            <a:r>
              <a:rPr b="0" sz="1200">
                <a:solidFill>
                  <a:srgbClr val="475569"/>
                </a:solidFill>
              </a:rPr>
              <a:t>Permite prototipar e inspeccionar datos rápidamente sin la sobrecarga de un entorno gráfico pesado.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Ecosistema en Crecimiento: </a:t>
            </a:r>
            <a:r>
              <a:rPr b="0" sz="1200">
                <a:solidFill>
                  <a:srgbClr val="475569"/>
                </a:solidFill>
              </a:rPr>
              <a:t>Constantemente surgen herramientas modernas (jq, csvkit, ripgrep, bat, xsv) que potencian la CLI.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Escalabilidad y Rendimiento: </a:t>
            </a:r>
            <a:r>
              <a:rPr b="0" sz="1200">
                <a:solidFill>
                  <a:srgbClr val="475569"/>
                </a:solidFill>
              </a:rPr>
              <a:t>Procesa archivos de varios gigabytes de forma eficiente utilizando streams de datos sin saturar la RAM.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Extensibilidad: </a:t>
            </a:r>
            <a:r>
              <a:rPr b="0" sz="1200">
                <a:solidFill>
                  <a:srgbClr val="475569"/>
                </a:solidFill>
              </a:rPr>
              <a:t>Fácil integración de scripts en Python, R o Bash como herramientas de terminal de primer nivel.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Ubicuidad: </a:t>
            </a:r>
            <a:r>
              <a:rPr b="0" sz="1200">
                <a:solidFill>
                  <a:srgbClr val="475569"/>
                </a:solidFill>
              </a:rPr>
              <a:t>Disponible por defecto en servidores remotos, cloud, contenedores Docker y sistemas de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Filosofía de Trabajo Unix en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Enfoque Modular: </a:t>
            </a:r>
            <a:r>
              <a:rPr b="0" sz="1200">
                <a:solidFill>
                  <a:srgbClr val="475569"/>
                </a:solidFill>
              </a:rPr>
              <a:t>Escribir programas pequeños que hagan una sola cosa extremadamente bien.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Interoperabilidad: </a:t>
            </a:r>
            <a:r>
              <a:rPr b="0" sz="1200">
                <a:solidFill>
                  <a:srgbClr val="475569"/>
                </a:solidFill>
              </a:rPr>
              <a:t>Diseñar salidas de texto plano para que se comuniquen limpiamente entre sí.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Automatización Total: </a:t>
            </a:r>
            <a:r>
              <a:rPr b="0" sz="1200">
                <a:solidFill>
                  <a:srgbClr val="475569"/>
                </a:solidFill>
              </a:rPr>
              <a:t>Todo proceso ejecutado en la CLI se puede automatizar en tareas programadas (cron) o scripts CI/CD.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Reproducibilidad: </a:t>
            </a:r>
            <a:r>
              <a:rPr b="0" sz="1200">
                <a:solidFill>
                  <a:srgbClr val="475569"/>
                </a:solidFill>
              </a:rPr>
              <a:t>Los comandos y pipelines en terminal se documentan e incluyen en repositorios de forma exacta.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1 • 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1: El Modelo OSEMN aplicado a la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Las 5 Etapas del Pipeline de Ciencia de Datos (OSEMN)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Obtain (Obtener datos): </a:t>
            </a:r>
            <a:r>
              <a:rPr b="0" sz="1200">
                <a:solidFill>
                  <a:srgbClr val="475569"/>
                </a:solidFill>
              </a:rPr>
              <a:t>Extraer información desde APIs REST, bases de datos SQL o archivos web con curl, wget o sql2csv.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Scrub (Depurar / Limpiar): </a:t>
            </a:r>
            <a:r>
              <a:rPr b="0" sz="1200">
                <a:solidFill>
                  <a:srgbClr val="475569"/>
                </a:solidFill>
              </a:rPr>
              <a:t>Convertir formatos, filtrar columnas, reemplazar caracteres sucios y parsear JSON con tr, sed, awk, csvkit y jq.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Explore (Explorar): </a:t>
            </a:r>
            <a:r>
              <a:rPr b="0" sz="1200">
                <a:solidFill>
                  <a:srgbClr val="475569"/>
                </a:solidFill>
              </a:rPr>
              <a:t>Calcular estadísticas descriptivas, inspeccionar primeras/últimas filas y valores únicos con head, tail, wc, sort, uniq y datamash.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Model (Modelar): </a:t>
            </a:r>
            <a:r>
              <a:rPr b="0" sz="1200">
                <a:solidFill>
                  <a:srgbClr val="475569"/>
                </a:solidFill>
              </a:rPr>
              <a:t>Entrenar modelos predictivos o aplicar algoritmos CLI como vowpal_wabbit o invocando scripts R/Python desde la terminal.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iNterpret (Interpretar): </a:t>
            </a:r>
            <a:r>
              <a:rPr b="0" sz="1200">
                <a:solidFill>
                  <a:srgbClr val="475569"/>
                </a:solidFill>
              </a:rPr>
              <a:t>Generar resúmenes de resultados, reportes en texto estructurado o visualizar métricas con gráficos en terminal (gnuplot, termgraph).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2 • PRIMEROS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2: Entorno Unix y Conceptos Esenciales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El Entorno Unix (Environment)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Variables del Entorno: </a:t>
            </a:r>
            <a:r>
              <a:rPr b="0" sz="1200">
                <a:solidFill>
                  <a:srgbClr val="475569"/>
                </a:solidFill>
              </a:rPr>
              <a:t>Valores dinámicos que afectan el comportamiento de los procesos en la terminal.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Variable $PATH: </a:t>
            </a:r>
            <a:r>
              <a:rPr b="0" sz="1200">
                <a:solidFill>
                  <a:srgbClr val="475569"/>
                </a:solidFill>
              </a:rPr>
              <a:t>Lista de directorios separados por ':' donde el shell busca comandos ejecutables.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Variables Clave: </a:t>
            </a:r>
            <a:r>
              <a:rPr b="0" sz="1200">
                <a:solidFill>
                  <a:srgbClr val="475569"/>
                </a:solidFill>
              </a:rPr>
              <a:t>$HOME (directorio personal), $USER (usuario actual), $SHELL (shell activo).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Comandos útiles: </a:t>
            </a:r>
            <a:r>
              <a:rPr b="0" sz="1200">
                <a:solidFill>
                  <a:srgbClr val="475569"/>
                </a:solidFill>
              </a:rPr>
              <a:t>echo $PATH para inspeccionar, export VAR=valor para definir variables de entorno.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echo $PATH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export DATA_DIR="/datos/proyecto"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echo $DATA_DIR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Estructura del Sistema de Archivos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Raíz del Sistema (/): </a:t>
            </a:r>
            <a:r>
              <a:rPr b="0" sz="1200">
                <a:solidFill>
                  <a:srgbClr val="475569"/>
                </a:solidFill>
              </a:rPr>
              <a:t>Punto de partida de la jerarquía de archivos en sistemas Unix/Linux.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Rutas Absolutas vs Relativas: </a:t>
            </a:r>
            <a:r>
              <a:rPr b="0" sz="1200">
                <a:solidFill>
                  <a:srgbClr val="475569"/>
                </a:solidFill>
              </a:rPr>
              <a:t>Absoluta parte desde / (/home/user/data), Relativa desde el directorio actual (./data).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Navegación Básica: </a:t>
            </a:r>
            <a:r>
              <a:rPr b="0" sz="1200">
                <a:solidFill>
                  <a:srgbClr val="475569"/>
                </a:solidFill>
              </a:rPr>
              <a:t>pwd para mostrar ruta actual, cd para cambiar de directorio.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Manipulación de Archivos: </a:t>
            </a:r>
            <a:r>
              <a:rPr b="0" sz="1200">
                <a:solidFill>
                  <a:srgbClr val="475569"/>
                </a:solidFill>
              </a:rPr>
              <a:t>ls -la (listar detallado), mkdir -p (crear carpeta), cp (copiar), mv (mover/renombrar), rm (eliminar).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pwd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ls -la /usr/bin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mkdir -p proyecto/datos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2 • CONCEPTOS ESENCIALES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2: Tipos de Comandos en la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Los 5 Tipos de Herramientas de Línea de Comandos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1. Shell Built-ins: </a:t>
            </a:r>
            <a:r>
              <a:rPr b="0" sz="1200">
                <a:solidFill>
                  <a:srgbClr val="475569"/>
                </a:solidFill>
              </a:rPr>
              <a:t>Comandos integrados directamente en el shell (ej: cd, echo, exit, pwd). Se ejecutan sin crear un nuevo proceso.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2. Executables (Binarios): </a:t>
            </a:r>
            <a:r>
              <a:rPr b="0" sz="1200">
                <a:solidFill>
                  <a:srgbClr val="475569"/>
                </a:solidFill>
              </a:rPr>
              <a:t>Programas independientes o scripts binarios compila dos en disco (ej: /bin/ls, /usr/bin/curl).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3. Aliases: </a:t>
            </a:r>
            <a:r>
              <a:rPr b="0" sz="1200">
                <a:solidFill>
                  <a:srgbClr val="475569"/>
                </a:solidFill>
              </a:rPr>
              <a:t>Atajos personalizados definidos por el usuario para comandos o secuencias (ej: alias ll='ls -l').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4. Shell Functions: </a:t>
            </a:r>
            <a:r>
              <a:rPr b="0" sz="1200">
                <a:solidFill>
                  <a:srgbClr val="475569"/>
                </a:solidFill>
              </a:rPr>
              <a:t>Bloques de código reusables cargados en memoria dentro de la sesión del shell.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5. Shell Scripts: </a:t>
            </a:r>
            <a:r>
              <a:rPr b="0" sz="1200">
                <a:solidFill>
                  <a:srgbClr val="475569"/>
                </a:solidFill>
              </a:rPr>
              <a:t>Archivos de texto que contienen secuencias de comandos y tienen permisos de ejecución (chmod +x script.sh).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Diagnóstico y Localización de Comandos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Comando type: </a:t>
            </a:r>
            <a:r>
              <a:rPr b="0" sz="1200">
                <a:solidFill>
                  <a:srgbClr val="475569"/>
                </a:solidFill>
              </a:rPr>
              <a:t>Indica de qué tipo es un comando en particular (built-in, alias, archivo binario o función).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Comando which: </a:t>
            </a:r>
            <a:r>
              <a:rPr b="0" sz="1200">
                <a:solidFill>
                  <a:srgbClr val="475569"/>
                </a:solidFill>
              </a:rPr>
              <a:t>Muestra la ruta exacta en el disco del ejecutable que se invocará según el $PATH.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Comando whereis: </a:t>
            </a:r>
            <a:r>
              <a:rPr b="0" sz="1200">
                <a:solidFill>
                  <a:srgbClr val="475569"/>
                </a:solidFill>
              </a:rPr>
              <a:t>Localiza binarios, archivos fuente y páginas de manual de un comando en el sistema.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type cd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cd is a shell builtin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which python3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/usr/bin/python3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type ll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ll is aliased to `ls -l'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2 • OPERADORES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2: Redirección de Entrada y Salida (I/O)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Flujos Estándar de Unix (Standard Streams)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Standard Input (stdin - 0): </a:t>
            </a:r>
            <a:r>
              <a:rPr b="0" sz="1200">
                <a:solidFill>
                  <a:srgbClr val="475569"/>
                </a:solidFill>
              </a:rPr>
              <a:t>Flujo de entrada predeterminado (por defecto el teclado o entrada de otro programa).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Standard Output (stdout - 1): </a:t>
            </a:r>
            <a:r>
              <a:rPr b="0" sz="1200">
                <a:solidFill>
                  <a:srgbClr val="475569"/>
                </a:solidFill>
              </a:rPr>
              <a:t>Flujo de salida predeterminado para resultados normales (pantalla o archivo).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Standard Error (stderr - 2): </a:t>
            </a:r>
            <a:r>
              <a:rPr b="0" sz="1200">
                <a:solidFill>
                  <a:srgbClr val="475569"/>
                </a:solidFill>
              </a:rPr>
              <a:t>Flujo de salida independiente para mensajes de error y diagnósticos.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Operadores de Redirección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&gt; (Sobrescribir Salida): </a:t>
            </a:r>
            <a:r>
              <a:rPr b="0" sz="1200">
                <a:solidFill>
                  <a:srgbClr val="475569"/>
                </a:solidFill>
              </a:rPr>
              <a:t>Envía el stdout a un archivo, reemplazando su contenido existente.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&gt;&gt; (Añadir Salida): </a:t>
            </a:r>
            <a:r>
              <a:rPr b="0" sz="1200">
                <a:solidFill>
                  <a:srgbClr val="475569"/>
                </a:solidFill>
              </a:rPr>
              <a:t>Envía el stdout al final de un archivo sin borrar lo anterior.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&lt; (Entrada desde Archivo): </a:t>
            </a:r>
            <a:r>
              <a:rPr b="0" sz="1200">
                <a:solidFill>
                  <a:srgbClr val="475569"/>
                </a:solidFill>
              </a:rPr>
              <a:t>Lee el stdin de un programa directamente desde un archivo.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2&gt; (Redirigir Errores): </a:t>
            </a:r>
            <a:r>
              <a:rPr b="0" sz="1200">
                <a:solidFill>
                  <a:srgbClr val="475569"/>
                </a:solidFill>
              </a:rPr>
              <a:t>Redirige únicamente los mensajes de stderr a un archivo.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cat datos.txt &gt; copia.txt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echo "nueva linea" &gt;&gt; log.txt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python3 script.py 2&gt; errores.log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comando &gt; salida.txt 2&gt;&amp;1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2 • TUBERÍAS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2: Combinación de Herramientas mediante Pipes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El Operador Pipe (|) en la Ciencia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Concepto de Pipe: </a:t>
            </a:r>
            <a:r>
              <a:rPr b="0" sz="1200">
                <a:solidFill>
                  <a:srgbClr val="475569"/>
                </a:solidFill>
              </a:rPr>
              <a:t>El operador '|' conecta la salida estándar (stdout) del comando de la izquierda directamente a la entrada estándar (stdin) del comando de la derecha.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Construcción de Pipelines: </a:t>
            </a:r>
            <a:r>
              <a:rPr b="0" sz="1200">
                <a:solidFill>
                  <a:srgbClr val="475569"/>
                </a:solidFill>
              </a:rPr>
              <a:t>Permite encadenar múltiples herramientas simples para realizar transformaciones de datos complejas sin escribir archivos intermedios en disco.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Eficiencia de Memoria: </a:t>
            </a:r>
            <a:r>
              <a:rPr b="0" sz="1200">
                <a:solidFill>
                  <a:srgbClr val="475569"/>
                </a:solidFill>
              </a:rPr>
              <a:t>Los datos fluyen continuamente en bloques a través del pipeline, procesando datasets gigantes con muy poco uso de 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10362895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Ejemplo 1: Encontrar las 10 palabras más frecuentes en un texto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cat libro.txt | tr ' ' '\n' | sort | uniq -c | sort -nr | head -n 10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Ejemplo 2: Filtrar errores de un log y contar ocurrencias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grep "ERROR 500" servidor.log | wc -l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2 • HERRAMIENTAS AUXILIARES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2: Inspección de Salida y Sistema de 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Gestión y Control de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head: </a:t>
            </a:r>
            <a:r>
              <a:rPr b="0" sz="1200">
                <a:solidFill>
                  <a:srgbClr val="475569"/>
                </a:solidFill>
              </a:rPr>
              <a:t>Muestra las primeras N filas de un archivo (ej: head -n 10 datos.csv).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tail: </a:t>
            </a:r>
            <a:r>
              <a:rPr b="0" sz="1200">
                <a:solidFill>
                  <a:srgbClr val="475569"/>
                </a:solidFill>
              </a:rPr>
              <a:t>Muestra las últimas N filas (ej: tail -n 20 log.txt). Con -f monitorea en tiempo real.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less: </a:t>
            </a:r>
            <a:r>
              <a:rPr b="0" sz="1200">
                <a:solidFill>
                  <a:srgbClr val="475569"/>
                </a:solidFill>
              </a:rPr>
              <a:t>Paginador interactivo para navegar archivos grandes sin cargarlos enteros en memoria.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wc: </a:t>
            </a:r>
            <a:r>
              <a:rPr b="0" sz="1200">
                <a:solidFill>
                  <a:srgbClr val="475569"/>
                </a:solidFill>
              </a:rPr>
              <a:t>Cuenta líneas (-l), palabras (-w) o bytes (-c) de un archivo.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head -n 5 clientes.csv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tail -f /var/log/syslog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less -N dataset_gigante.json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wc -l dataset_gigante.json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Cómo Solicitar Ayuda en la 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man (Manuales oficial): </a:t>
            </a:r>
            <a:r>
              <a:rPr b="0" sz="1200">
                <a:solidFill>
                  <a:srgbClr val="475569"/>
                </a:solidFill>
              </a:rPr>
              <a:t>Muestra la documentación completa del sistema para un comando (man curl).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Flag --help / -h: </a:t>
            </a:r>
            <a:r>
              <a:rPr b="0" sz="1200">
                <a:solidFill>
                  <a:srgbClr val="475569"/>
                </a:solidFill>
              </a:rPr>
              <a:t>Muestra una síntesis rápida de opciones y sintaxis disponible.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tldr (Too Long; Didn't Read): </a:t>
            </a:r>
            <a:r>
              <a:rPr b="0" sz="1200">
                <a:solidFill>
                  <a:srgbClr val="475569"/>
                </a:solidFill>
              </a:rPr>
              <a:t>Páginas de ayuda simplificadas con ejemplos comunitarios prácticos de uso diario.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man grep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--help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tldr 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3 • OBTENCIÓN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3: Descarga de Datos de Internet con curl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La Herramienta curl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¿Qué es curl?: </a:t>
            </a:r>
            <a:r>
              <a:rPr b="0" sz="1200">
                <a:solidFill>
                  <a:srgbClr val="475569"/>
                </a:solidFill>
              </a:rPr>
              <a:t>Herramienta flexible para transferir datos desde/hacia servidores usando protocolos como HTTP, HTTPS, FTP, SFTP.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Guardar Archivos Remote (-O): </a:t>
            </a:r>
            <a:r>
              <a:rPr b="0" sz="1200">
                <a:solidFill>
                  <a:srgbClr val="475569"/>
                </a:solidFill>
              </a:rPr>
              <a:t>La opción -O conserva el nombre original del archivo en el servidor.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Especificar Nombre Local (-o): </a:t>
            </a:r>
            <a:r>
              <a:rPr b="0" sz="1200">
                <a:solidFill>
                  <a:srgbClr val="475569"/>
                </a:solidFill>
              </a:rPr>
              <a:t>La opción -o archivo.ext permite renombrar la descarga.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Modo Silencioso (-s): </a:t>
            </a:r>
            <a:r>
              <a:rPr b="0" sz="1200">
                <a:solidFill>
                  <a:srgbClr val="475569"/>
                </a:solidFill>
              </a:rPr>
              <a:t>Desactiva la barra de progreso útil en scripts y pipelines.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Seguir Redirecciones (-L): </a:t>
            </a:r>
            <a:r>
              <a:rPr b="0" sz="1200">
                <a:solidFill>
                  <a:srgbClr val="475569"/>
                </a:solidFill>
              </a:rPr>
              <a:t>Indispensable para URLs que usan acortadores o redirecciones HTTP 301/302.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Ejemplos Prácticos de Descarga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Descarga Básica: </a:t>
            </a:r>
            <a:r>
              <a:rPr b="0" sz="1200">
                <a:solidFill>
                  <a:srgbClr val="475569"/>
                </a:solidFill>
              </a:rPr>
              <a:t>Descargar un archivo remoto directamente.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Descarga Silenciosa con Pipe: </a:t>
            </a:r>
            <a:r>
              <a:rPr b="0" sz="1200">
                <a:solidFill>
                  <a:srgbClr val="475569"/>
                </a:solidFill>
              </a:rPr>
              <a:t>Enviar contenido descargado a otra herramienta sin guardarlo en disco.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Headers de Autenticación: </a:t>
            </a:r>
            <a:r>
              <a:rPr b="0" sz="1200">
                <a:solidFill>
                  <a:srgbClr val="475569"/>
                </a:solidFill>
              </a:rPr>
              <a:t>Enviar encabezados HTTP personalizados con la opción -H.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Descargar y guardar con nombre remoto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-O https://example.com/data.csv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Descargar en silencio y seguir redirección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-sL https://git.io/datos -o resultado.csv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Enviar Header de Autorización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-H "Authorization: Bearer KEY" https://api.com/v1/data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3 • FORMATOS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3: Descompresión de Archivos y Conversión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Manejo de Archivos Comprimidos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Formatos Frecuentes: </a:t>
            </a:r>
            <a:r>
              <a:rPr b="0" sz="1200">
                <a:solidFill>
                  <a:srgbClr val="475569"/>
                </a:solidFill>
              </a:rPr>
              <a:t>Datasets masivos suelen distribuirse comprimidos (.zip, .tar.gz, .bz2, .xz).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Descomprimir ZIP: </a:t>
            </a:r>
            <a:r>
              <a:rPr b="0" sz="1200">
                <a:solidFill>
                  <a:srgbClr val="475569"/>
                </a:solidFill>
              </a:rPr>
              <a:t>unzip archivo.zip (usar unzip -l para listar sin extraer).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Descomprimir TAR.GZ: </a:t>
            </a:r>
            <a:r>
              <a:rPr b="0" sz="1200">
                <a:solidFill>
                  <a:srgbClr val="475569"/>
                </a:solidFill>
              </a:rPr>
              <a:t>tar -xzvf archivo.tar.gz (-x extraer, -z gzip, -v verbose, -f archivo).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Descomprimir BZ2 / XZ: </a:t>
            </a:r>
            <a:r>
              <a:rPr b="0" sz="1200">
                <a:solidFill>
                  <a:srgbClr val="475569"/>
                </a:solidFill>
              </a:rPr>
              <a:t>bunzip2 datos.bz2 o unxz datos.xz.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unzip -q datos_2026.zip -d ./raw_data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tar -xzvf dataset.tar.gz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bunzip2 archivo.csv.bz2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Conversión de Hojas de Cálculo (Excel)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Herramientas csvkit: </a:t>
            </a:r>
            <a:r>
              <a:rPr b="0" sz="1200">
                <a:solidFill>
                  <a:srgbClr val="475569"/>
                </a:solidFill>
              </a:rPr>
              <a:t>Colección de utilidades CLI para trabajar con archivos CSV y hojas de cálculo.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in2csv: </a:t>
            </a:r>
            <a:r>
              <a:rPr b="0" sz="1200">
                <a:solidFill>
                  <a:srgbClr val="475569"/>
                </a:solidFill>
              </a:rPr>
              <a:t>Convierte hojas de cálculo de Microsoft Excel (.xlsx/.xls) directamente a formato CSV en terminal.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Inspección de Pestañas: </a:t>
            </a:r>
            <a:r>
              <a:rPr b="0" sz="1200">
                <a:solidFill>
                  <a:srgbClr val="475569"/>
                </a:solidFill>
              </a:rPr>
              <a:t>Permite listar o seleccionar una pestaña específica del libro de Excel con la opción --sheet.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Listar hojas de un libro de Excel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in2csv -n reporte_anual.xlsx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Convertir una hoja específica a 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in2csv reporte_anual.xlsx --sheet "Ventas2025" &gt; ventas.csv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CAPÍTULO 3 • BASES DE DATOS &amp;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Capítulo 3: Consultas a Bases de Datos y APIs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Consultas SQL desde la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SQLite3 CLI: </a:t>
            </a:r>
            <a:r>
              <a:rPr b="0" sz="1200">
                <a:solidFill>
                  <a:srgbClr val="475569"/>
                </a:solidFill>
              </a:rPr>
              <a:t>Ejecutar consultas SQL directamente sobre archivos .db sin cliente gráfico.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Exportar Consultas SQL: </a:t>
            </a:r>
            <a:r>
              <a:rPr b="0" sz="1200">
                <a:solidFill>
                  <a:srgbClr val="475569"/>
                </a:solidFill>
              </a:rPr>
              <a:t>Herramienta sql2csv para ejecutar SQL contra DBs (PostgreSQL, MySQL, SQLite) y volcar a CSV.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Automatización: </a:t>
            </a:r>
            <a:r>
              <a:rPr b="0" sz="1200">
                <a:solidFill>
                  <a:srgbClr val="475569"/>
                </a:solidFill>
              </a:rPr>
              <a:t>Permite incorporar extracciones SQL dentro de scripts de pipeline Bash.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Consulta directa en SQLite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sqlite3 empresa.db "SELECT id, nombre FROM clientes WHERE activo=1;"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Exportar consulta a 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sql2csv --db sqlite:///empresa.db --query "SELECT * FROM ventas" &gt; ventas.csv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Consumo de APIs Web y Procesamiento con jq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APIs REST: </a:t>
            </a:r>
            <a:r>
              <a:rPr b="0" sz="1200">
                <a:solidFill>
                  <a:srgbClr val="475569"/>
                </a:solidFill>
              </a:rPr>
              <a:t>Las web APIs devuelven estructuras JSON mediante peticiones HTTP.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Procesador jq: </a:t>
            </a:r>
            <a:r>
              <a:rPr b="0" sz="1200">
                <a:solidFill>
                  <a:srgbClr val="475569"/>
                </a:solidFill>
              </a:rPr>
              <a:t>Herramienta de terminal indispensable para filtrar, transformar y formatear JSON.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Sintaxis Básica de jq: </a:t>
            </a:r>
            <a:r>
              <a:rPr b="0" sz="1200">
                <a:solidFill>
                  <a:srgbClr val="475569"/>
                </a:solidFill>
              </a:rPr>
              <a:t>'.' para Pretty Print, '.campo' para extraer un valor, '.[]' para iterar listas.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Obtener JSON de GitHub API e inspeccionar con jq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-s https://api.github.com/users/octocat | jq '.'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Extraer solo un campo específico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-s https://api.github.com/users/octocat | jq '.public_repos'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GIT BÁSICO •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Git Tutorial Básico: Introducción y Configuración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¿Qué es Git y por qué usarlo en Datos?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Control de Versiones Distribuido: </a:t>
            </a:r>
            <a:r>
              <a:rPr b="0" sz="1200">
                <a:solidFill>
                  <a:srgbClr val="475569"/>
                </a:solidFill>
              </a:rPr>
              <a:t>Sistema para rastrear cambios en archivos de texto, scripts, notebooks y documentación.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Historial Completo: </a:t>
            </a:r>
            <a:r>
              <a:rPr b="0" sz="1200">
                <a:solidFill>
                  <a:srgbClr val="475569"/>
                </a:solidFill>
              </a:rPr>
              <a:t>Guarda el registro exacto de quién cambió qué, cuándo y por qué.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Reproducibilidad Científica: </a:t>
            </a:r>
            <a:r>
              <a:rPr b="0" sz="1200">
                <a:solidFill>
                  <a:srgbClr val="475569"/>
                </a:solidFill>
              </a:rPr>
              <a:t>Permite volver a cualquier punto del tiempo del proyecto si un experimento falla.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Colaboración Eficiente: </a:t>
            </a:r>
            <a:r>
              <a:rPr b="0" sz="1200">
                <a:solidFill>
                  <a:srgbClr val="475569"/>
                </a:solidFill>
              </a:rPr>
              <a:t>Múltiples desarrolladores o científicos de datos trabajando en paralelo sin sobrescribirse.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Paso 1 y 2: Instalación y Configuración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Instalación: </a:t>
            </a:r>
            <a:r>
              <a:rPr b="0" sz="1200">
                <a:solidFill>
                  <a:srgbClr val="475569"/>
                </a:solidFill>
              </a:rPr>
              <a:t>Descarga oficial para Windows (Git Bash), Linux (apt install git) o macOS (brew install git).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Identidad del Desarrollador: </a:t>
            </a:r>
            <a:r>
              <a:rPr b="0" sz="1200">
                <a:solidFill>
                  <a:srgbClr val="475569"/>
                </a:solidFill>
              </a:rPr>
              <a:t>Establecer nombre y correo que quedarán asociados a cada commit registrado.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Configuración Global: </a:t>
            </a:r>
            <a:r>
              <a:rPr b="0" sz="1200">
                <a:solidFill>
                  <a:srgbClr val="475569"/>
                </a:solidFill>
              </a:rPr>
              <a:t>Uso del flag --global para aplicar a todos los repositorios del usuario.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Configurar nombre de usuario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config --global user.name "Tu Nombre"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Configurar correo electronico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config --global user.email "tu@email.com"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Verificar configuracion actual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config --list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GIT BÁSICO • FLUJO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Git Tutorial Básico: Flujo de Trabajo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Las 3 Áreas de Trabajo en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1. Working Directory: </a:t>
            </a:r>
            <a:r>
              <a:rPr b="0" sz="1200">
                <a:solidFill>
                  <a:srgbClr val="475569"/>
                </a:solidFill>
              </a:rPr>
              <a:t>Los archivos reales en tu carpeta de proyecto que estás creando o editando.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2. Staging Area (Index): </a:t>
            </a:r>
            <a:r>
              <a:rPr b="0" sz="1200">
                <a:solidFill>
                  <a:srgbClr val="475569"/>
                </a:solidFill>
              </a:rPr>
              <a:t>El área de preparación donde organizas los cambios que formarñan la próxima foto/snapshot.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3. Git Repository (.git): </a:t>
            </a:r>
            <a:r>
              <a:rPr b="0" sz="1200">
                <a:solidFill>
                  <a:srgbClr val="475569"/>
                </a:solidFill>
              </a:rPr>
              <a:t>La base de datos del proyecto donde se guardan permanentemente los commits.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Pasos 3 y 4: Inicialización y Commits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init: </a:t>
            </a:r>
            <a:r>
              <a:rPr b="0" sz="1200">
                <a:solidFill>
                  <a:srgbClr val="475569"/>
                </a:solidFill>
              </a:rPr>
              <a:t>Inicializa un repositorio Git vacío en la carpeta actual.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status: </a:t>
            </a:r>
            <a:r>
              <a:rPr b="0" sz="1200">
                <a:solidFill>
                  <a:srgbClr val="475569"/>
                </a:solidFill>
              </a:rPr>
              <a:t>Muestra el estado actual de los archivos (modificados, en staging o no rastreados).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add &lt;archivo&gt;: </a:t>
            </a:r>
            <a:r>
              <a:rPr b="0" sz="1200">
                <a:solidFill>
                  <a:srgbClr val="475569"/>
                </a:solidFill>
              </a:rPr>
              <a:t>Agrega archivos modificados al Staging Area (git add . para todos).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commit -m "msg": </a:t>
            </a:r>
            <a:r>
              <a:rPr b="0" sz="1200">
                <a:solidFill>
                  <a:srgbClr val="475569"/>
                </a:solidFill>
              </a:rPr>
              <a:t>Guarda permanentemente el snapshot en el historial local con un mensaje explicativo.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1. Inicializar repositorio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init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2. Revisar estado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status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3. Agregar cambios al staging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add script.py datos_limpios.csv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4. Registrar commit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commit -m "Limpieza inicial de datos y script principal"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GIT BÁSICO • RAMAS &amp; REMOTOS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Git Tutorial Básico: Ramas y Repositorios Remotos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Paso 5: Manejo de Ramas (Branches)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¿Qué es una Rama?: </a:t>
            </a:r>
            <a:r>
              <a:rPr b="0" sz="1200">
                <a:solidFill>
                  <a:srgbClr val="475569"/>
                </a:solidFill>
              </a:rPr>
              <a:t>Línea independiente de desarrollo para probar nuevas ideas sin alterar el código estable.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branch &lt;nombre&gt;: </a:t>
            </a:r>
            <a:r>
              <a:rPr b="0" sz="1200">
                <a:solidFill>
                  <a:srgbClr val="475569"/>
                </a:solidFill>
              </a:rPr>
              <a:t>Crea una nueva rama independiente.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checkout / git switch: </a:t>
            </a:r>
            <a:r>
              <a:rPr b="0" sz="1200">
                <a:solidFill>
                  <a:srgbClr val="475569"/>
                </a:solidFill>
              </a:rPr>
              <a:t>Cambia la sesión de trabajo a la rama especificada.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merge &lt;nombre&gt;: </a:t>
            </a:r>
            <a:r>
              <a:rPr b="0" sz="1200">
                <a:solidFill>
                  <a:srgbClr val="475569"/>
                </a:solidFill>
              </a:rPr>
              <a:t>Fusiona los cambios de la rama indicada en la rama activa.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Crear y cambiar a nueva rama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branch experimento_limpieza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checkout experimento_limpieza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Fusionar cambios en la rama main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checkout main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merge experimento_limpieza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Paso 6: Repositorios Remotos (GitHub / GitLab)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Repositorio Remoto: </a:t>
            </a:r>
            <a:r>
              <a:rPr b="0" sz="1200">
                <a:solidFill>
                  <a:srgbClr val="475569"/>
                </a:solidFill>
              </a:rPr>
              <a:t>Servidor en la nube para respaldar el código y colaborar en equipo.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remote add origin: </a:t>
            </a:r>
            <a:r>
              <a:rPr b="0" sz="1200">
                <a:solidFill>
                  <a:srgbClr val="475569"/>
                </a:solidFill>
              </a:rPr>
              <a:t>Vincula el repositorio local con la URL del repositorio remoto.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push: </a:t>
            </a:r>
            <a:r>
              <a:rPr b="0" sz="1200">
                <a:solidFill>
                  <a:srgbClr val="475569"/>
                </a:solidFill>
              </a:rPr>
              <a:t>Sube las ramas y commits locales al servidor remoto.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pull / clone: </a:t>
            </a:r>
            <a:r>
              <a:rPr b="0" sz="1200">
                <a:solidFill>
                  <a:srgbClr val="475569"/>
                </a:solidFill>
              </a:rPr>
              <a:t>Descarga e integra actualizaciones del remoto a tu máquina local.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Conectar repositorio remoto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remote add origin https://github.com/usuario/mi-repo.git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Subir cambios por primera vez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push -u origin main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Clonar un repositorio existente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git clone https://github.com/usuario/otro-repo.git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CONCLUSIÓN •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Resumen de la Sesión y Práctica Sugerida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Programación Unix / Linux 1  •  UCOM 2026  •  Sesión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Síntesis de Conceptos Aprendidos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Data Science at the CLI: </a:t>
            </a:r>
            <a:r>
              <a:rPr b="0" sz="1200">
                <a:solidFill>
                  <a:srgbClr val="475569"/>
                </a:solidFill>
              </a:rPr>
              <a:t>La terminal Unix es un entorno ágil, potente y de alto rendimiento para procesar pipelines de datos mediante el modelo OSEMN.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Herramientas Unix &amp; Pipes: </a:t>
            </a:r>
            <a:r>
              <a:rPr b="0" sz="1200">
                <a:solidFill>
                  <a:srgbClr val="475569"/>
                </a:solidFill>
              </a:rPr>
              <a:t>Uso de curl, jq, csvkit, redirecciones e I/O pipes para automatizar tareas sin interfaz gráfica.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Git Control de Versiones: </a:t>
            </a:r>
            <a:r>
              <a:rPr b="0" sz="1200">
                <a:solidFill>
                  <a:srgbClr val="475569"/>
                </a:solidFill>
              </a:rPr>
              <a:t>Dominio del flujo local (init, status, add, commit), estrategia de ramas (branch, merge) y trabajo remoto (push, pull).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Arial"/>
              </a:defRPr>
            </a:pPr>
            <a:r>
              <a:t>Desafío Práctico Guiado para el Alumno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1. Descarga e Inspección: </a:t>
            </a:r>
            <a:r>
              <a:rPr b="0" sz="1200">
                <a:solidFill>
                  <a:srgbClr val="475569"/>
                </a:solidFill>
              </a:rPr>
              <a:t>Usar curl -sL para bajar un dataset CSV público y verificar filas con head y wc -l.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2. Filtrado en Pipeline: </a:t>
            </a:r>
            <a:r>
              <a:rPr b="0" sz="1200">
                <a:solidFill>
                  <a:srgbClr val="475569"/>
                </a:solidFill>
              </a:rPr>
              <a:t>Construir un pipeline con grep, cut, sort y uniq para extraer un resumen cuantitativo.</a:t>
            </a:r>
          </a:p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• 3. Control de Versiones Git: </a:t>
            </a:r>
            <a:r>
              <a:rPr b="0" sz="1200">
                <a:solidFill>
                  <a:srgbClr val="475569"/>
                </a:solidFill>
              </a:rPr>
              <a:t>Inicializar un repositorio Git, realizar commits incrementales de los scripts generados y subirlo a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5029200"/>
            <a:ext cx="47548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3855" y="5120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# Pipeline Desafío: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curl -sL https://raw.githubusercontent.com/datasets/gdp/master/data/gdp.csv \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  | cut -d',' -f1,4 \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  | grep "2020" \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  | head -n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