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8FAFC"/>
                </a:solidFill>
                <a:latin typeface="Arial"/>
              </a:defRPr>
            </a:pPr>
            <a:r>
              <a:t>Sesión 2: Manipulación de</a:t>
            </a:r>
            <a:br/>
            <a:r>
              <a:t>Archivos y Directorios</a:t>
            </a:r>
          </a:p>
          <a:p>
            <a:pPr>
              <a:defRPr sz="2000">
                <a:solidFill>
                  <a:srgbClr val="64748B"/>
                </a:solidFill>
                <a:latin typeface="Arial"/>
              </a:defRPr>
            </a:pPr>
            <a:r>
              <a:t>Entorno de Programación Unix/Linux y Ejemplos en Python</a:t>
            </a:r>
            <a:br/>
            <a:r>
              <a:t>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Objetivos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1. </a:t>
            </a:r>
            <a:r>
              <a:rPr sz="1600" b="1">
                <a:solidFill>
                  <a:srgbClr val="0F172A"/>
                </a:solidFill>
                <a:latin typeface="Arial"/>
              </a:rPr>
              <a:t>Comprender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los conceptos básicos de la manipulación de archivos y directorios en Unix/Linux.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2. </a:t>
            </a:r>
            <a:r>
              <a:rPr sz="1600" b="1">
                <a:solidFill>
                  <a:srgbClr val="0F172A"/>
                </a:solidFill>
                <a:latin typeface="Arial"/>
              </a:rPr>
              <a:t>Aprender</a:t>
            </a:r>
            <a:r>
              <a:rPr sz="1600" b="0">
                <a:solidFill>
                  <a:srgbClr val="0F172A"/>
                </a:solidFill>
                <a:latin typeface="Arial"/>
              </a:rPr>
              <a:t> a utilizar los comandos fundamentales de terminal para administrar el sistema de archivos.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3. </a:t>
            </a:r>
            <a:r>
              <a:rPr sz="1600" b="1">
                <a:solidFill>
                  <a:srgbClr val="0F172A"/>
                </a:solidFill>
                <a:latin typeface="Arial"/>
              </a:rPr>
              <a:t>Familiarizarse</a:t>
            </a:r>
            <a:r>
              <a:rPr sz="1600" b="0">
                <a:solidFill>
                  <a:srgbClr val="0F172A"/>
                </a:solidFill>
                <a:latin typeface="Arial"/>
              </a:rPr>
              <a:t> con los permisos y propietarios de archivos en Unix/Linux para la gestión de seguridad.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4. </a:t>
            </a:r>
            <a:r>
              <a:rPr sz="1600" b="1">
                <a:solidFill>
                  <a:srgbClr val="0F172A"/>
                </a:solidFill>
                <a:latin typeface="Arial"/>
              </a:rPr>
              <a:t>Explorar</a:t>
            </a:r>
            <a:r>
              <a:rPr sz="1600" b="0">
                <a:solidFill>
                  <a:srgbClr val="0F172A"/>
                </a:solidFill>
                <a:latin typeface="Arial"/>
              </a:rPr>
              <a:t> ejemplos prácticos de manipulación de archivos y directorios utilizando Python y su módulo </a:t>
            </a:r>
            <a:r>
              <a:rPr sz="1600" b="1">
                <a:solidFill>
                  <a:srgbClr val="2563EB"/>
                </a:solidFill>
                <a:latin typeface="Consolas"/>
              </a:rPr>
              <a:t>os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Estructura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Introducción teórica</a:t>
            </a:r>
            <a:r>
              <a:rPr sz="1600" b="0">
                <a:solidFill>
                  <a:srgbClr val="0F172A"/>
                </a:solidFill>
                <a:latin typeface="Arial"/>
              </a:rPr>
              <a:t>: Concepto de árbol invertido de directorios en Unix/Linux.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Comandos Básicos de Bash</a:t>
            </a:r>
            <a:r>
              <a:rPr sz="1600" b="0">
                <a:solidFill>
                  <a:srgbClr val="0F172A"/>
                </a:solidFill>
                <a:latin typeface="Arial"/>
              </a:rPr>
              <a:t>: </a:t>
            </a:r>
            <a:r>
              <a:rPr sz="1600" b="1">
                <a:solidFill>
                  <a:srgbClr val="2563EB"/>
                </a:solidFill>
                <a:latin typeface="Consolas"/>
              </a:rPr>
              <a:t>ls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cd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pwd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mkdir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rm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cp</a:t>
            </a:r>
            <a:r>
              <a:rPr sz="1600" b="0">
                <a:solidFill>
                  <a:srgbClr val="0F172A"/>
                </a:solidFill>
                <a:latin typeface="Arial"/>
              </a:rPr>
              <a:t>, y </a:t>
            </a:r>
            <a:r>
              <a:rPr sz="1600" b="1">
                <a:solidFill>
                  <a:srgbClr val="2563EB"/>
                </a:solidFill>
                <a:latin typeface="Consolas"/>
              </a:rPr>
              <a:t>mv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Permisos y Propietarios</a:t>
            </a:r>
            <a:r>
              <a:rPr sz="1600" b="0">
                <a:solidFill>
                  <a:srgbClr val="0F172A"/>
                </a:solidFill>
                <a:latin typeface="Arial"/>
              </a:rPr>
              <a:t>: Entidades y comandos </a:t>
            </a:r>
            <a:r>
              <a:rPr sz="1600" b="1">
                <a:solidFill>
                  <a:srgbClr val="2563EB"/>
                </a:solidFill>
                <a:latin typeface="Consolas"/>
              </a:rPr>
              <a:t>chmod</a:t>
            </a:r>
            <a:r>
              <a:rPr sz="1600" b="0">
                <a:solidFill>
                  <a:srgbClr val="0F172A"/>
                </a:solidFill>
                <a:latin typeface="Arial"/>
              </a:rPr>
              <a:t> y </a:t>
            </a:r>
            <a:r>
              <a:rPr sz="1600" b="1">
                <a:solidFill>
                  <a:srgbClr val="2563EB"/>
                </a:solidFill>
                <a:latin typeface="Consolas"/>
              </a:rPr>
              <a:t>chown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Integración con Python</a:t>
            </a:r>
            <a:r>
              <a:rPr sz="1600" b="0">
                <a:solidFill>
                  <a:srgbClr val="0F172A"/>
                </a:solidFill>
                <a:latin typeface="Arial"/>
              </a:rPr>
              <a:t>: Manipulación de archivos estándar y el módulo </a:t>
            </a:r>
            <a:r>
              <a:rPr sz="1600" b="1">
                <a:solidFill>
                  <a:srgbClr val="2563EB"/>
                </a:solidFill>
                <a:latin typeface="Consolas"/>
              </a:rPr>
              <a:t>os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Recursos y Referencias</a:t>
            </a:r>
            <a:r>
              <a:rPr sz="1600" b="0">
                <a:solidFill>
                  <a:srgbClr val="0F172A"/>
                </a:solidFill>
                <a:latin typeface="Arial"/>
              </a:rPr>
              <a:t>: Lectura recomendada del libro guía.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La Estructura de Directorios en Unix/Linux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Sistemas Unix/Linux</a:t>
            </a:r>
            <a:r>
              <a:rPr sz="1600" b="0">
                <a:solidFill>
                  <a:srgbClr val="0F172A"/>
                </a:solidFill>
                <a:latin typeface="Arial"/>
              </a:rPr>
              <a:t>: Sistemas operativos de código abierto estables y eficientes, cruciales para la programación moderna.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Línea de Comandos</a:t>
            </a:r>
            <a:r>
              <a:rPr sz="1600" b="0">
                <a:solidFill>
                  <a:srgbClr val="0F172A"/>
                </a:solidFill>
                <a:latin typeface="Arial"/>
              </a:rPr>
              <a:t>: Permite automatizar y personalizar tareas directamente mediante instrucciones rápidas.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Estructura Jerárquica</a:t>
            </a:r>
            <a:r>
              <a:rPr sz="1600" b="0">
                <a:solidFill>
                  <a:srgbClr val="0F172A"/>
                </a:solidFill>
                <a:latin typeface="Arial"/>
              </a:rPr>
              <a:t>: Se organiza en un árbol invertido que inicia en el directorio raíz representado por una barra diagonal </a:t>
            </a:r>
            <a:r>
              <a:rPr sz="1600" b="1">
                <a:solidFill>
                  <a:srgbClr val="2563EB"/>
                </a:solidFill>
                <a:latin typeface="Consolas"/>
              </a:rPr>
              <a:t>/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A partir del directorio raíz </a:t>
            </a:r>
            <a:r>
              <a:rPr sz="1600" b="1">
                <a:solidFill>
                  <a:srgbClr val="2563EB"/>
                </a:solidFill>
                <a:latin typeface="Consolas"/>
              </a:rPr>
              <a:t>/</a:t>
            </a:r>
            <a:r>
              <a:rPr sz="1600" b="0">
                <a:solidFill>
                  <a:srgbClr val="0F172A"/>
                </a:solidFill>
                <a:latin typeface="Arial"/>
              </a:rPr>
              <a:t>, el sistema se ramifica en múltiples subdirectorios dedicados a propósitos específicos.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Directorios Comunes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Los directorios clave del estándar de jerarquía de archivos son: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/bin</a:t>
            </a:r>
            <a:r>
              <a:rPr sz="1500" b="0">
                <a:solidFill>
                  <a:srgbClr val="0F172A"/>
                </a:solidFill>
                <a:latin typeface="Arial"/>
              </a:rPr>
              <a:t>: Programas y comandos de usuario esenciales (ej. </a:t>
            </a:r>
            <a:r>
              <a:rPr sz="1500" b="1">
                <a:solidFill>
                  <a:srgbClr val="2563EB"/>
                </a:solidFill>
                <a:latin typeface="Consolas"/>
              </a:rPr>
              <a:t>ls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cp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/home</a:t>
            </a:r>
            <a:r>
              <a:rPr sz="1500" b="0">
                <a:solidFill>
                  <a:srgbClr val="0F172A"/>
                </a:solidFill>
                <a:latin typeface="Arial"/>
              </a:rPr>
              <a:t>: Directorios personales de los usuarios (sus carpetas privadas).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/usr</a:t>
            </a:r>
            <a:r>
              <a:rPr sz="1500" b="0">
                <a:solidFill>
                  <a:srgbClr val="0F172A"/>
                </a:solidFill>
                <a:latin typeface="Arial"/>
              </a:rPr>
              <a:t>: Aplicaciones secundarias, librerías y documentación.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Rutas Comunes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 (Directorio Raíz)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├── bin/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├── home/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│   └── usuario/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├── usr/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├── etc/ (Configuraciones)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├── var/ (Logs/Bases de datos)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└── tmp/ (Temporales)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01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Comandos Básicos en Bash Shell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COMANDOS EN 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Navegación y Listado: ls, cd, pwd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`ls` (List)</a:t>
            </a:r>
            <a:r>
              <a:rPr sz="1500" b="0">
                <a:solidFill>
                  <a:srgbClr val="0F172A"/>
                </a:solidFill>
                <a:latin typeface="Arial"/>
              </a:rPr>
              <a:t>: Lista archivos y directorios en la ubicación de trabajo actual.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Opciones comunes como </a:t>
            </a:r>
            <a:r>
              <a:rPr sz="1500" b="1">
                <a:solidFill>
                  <a:srgbClr val="2563EB"/>
                </a:solidFill>
                <a:latin typeface="Consolas"/>
              </a:rPr>
              <a:t>ls -l</a:t>
            </a:r>
            <a:r>
              <a:rPr sz="1500" b="0">
                <a:solidFill>
                  <a:srgbClr val="0F172A"/>
                </a:solidFill>
                <a:latin typeface="Arial"/>
              </a:rPr>
              <a:t> muestran detalles adicionales de permisos y tamaños.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`cd` (Change Directory)</a:t>
            </a:r>
            <a:r>
              <a:rPr sz="1500" b="0">
                <a:solidFill>
                  <a:srgbClr val="0F172A"/>
                </a:solidFill>
                <a:latin typeface="Arial"/>
              </a:rPr>
              <a:t>: Cambia el directorio de trabajo actual a la ruta especificada.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`pwd` (Print Working Directory)</a:t>
            </a:r>
            <a:r>
              <a:rPr sz="1500" b="0">
                <a:solidFill>
                  <a:srgbClr val="0F172A"/>
                </a:solidFill>
                <a:latin typeface="Arial"/>
              </a:rPr>
              <a:t>: Muestra la ruta absoluta del directorio donde se encuentra el usuario.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Listar el directorio actual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Cambiar al directorio sample_data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cd /content/sample_data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Confirmar el directorio actual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pwd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/content/sample_data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COMANDOS EN 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Creación y Eliminación: mkdir, 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`mkdir` (Make Directory)</a:t>
            </a:r>
            <a:r>
              <a:rPr sz="1500" b="0">
                <a:solidFill>
                  <a:srgbClr val="0F172A"/>
                </a:solidFill>
                <a:latin typeface="Arial"/>
              </a:rPr>
              <a:t>: Crea un nuevo directorio en la ruta indicada.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`rm` (Remove)</a:t>
            </a:r>
            <a:r>
              <a:rPr sz="1500" b="0">
                <a:solidFill>
                  <a:srgbClr val="0F172A"/>
                </a:solidFill>
                <a:latin typeface="Arial"/>
              </a:rPr>
              <a:t>: Elimina de forma permanente archivos del sistema.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`rm -r` (Recursive Remove)</a:t>
            </a:r>
            <a:r>
              <a:rPr sz="1500" b="0">
                <a:solidFill>
                  <a:srgbClr val="0F172A"/>
                </a:solidFill>
                <a:latin typeface="Arial"/>
              </a:rPr>
              <a:t>: Elimina de forma recursiva un directorio completo y todo su contenido.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¡Advertencia!</a:t>
            </a:r>
            <a:r>
              <a:rPr sz="1500" b="0">
                <a:solidFill>
                  <a:srgbClr val="0F172A"/>
                </a:solidFill>
                <a:latin typeface="Arial"/>
              </a:rPr>
              <a:t>: El comando </a:t>
            </a:r>
            <a:r>
              <a:rPr sz="1500" b="1">
                <a:solidFill>
                  <a:srgbClr val="2563EB"/>
                </a:solidFill>
                <a:latin typeface="Consolas"/>
              </a:rPr>
              <a:t>rm</a:t>
            </a:r>
            <a:r>
              <a:rPr sz="1500" b="0">
                <a:solidFill>
                  <a:srgbClr val="0F172A"/>
                </a:solidFill>
                <a:latin typeface="Arial"/>
              </a:rPr>
              <a:t> en terminal no utiliza papelera de reciclaje. Las eliminaciones son inmediatas e irreversibles.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Crear una nueva carpeta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mkdir directorio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Crear y borrar un archivo vacío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touch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rm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Eliminar un directorio de forma recursiva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rm -r directorio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COMANDOS EN 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Copiar y Mover: cp, mv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`cp` (Copy)</a:t>
            </a:r>
            <a:r>
              <a:rPr sz="1500" b="0">
                <a:solidFill>
                  <a:srgbClr val="0F172A"/>
                </a:solidFill>
                <a:latin typeface="Arial"/>
              </a:rPr>
              <a:t>: Copia un archivo desde un origen a un destino especificado.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`cp -r`</a:t>
            </a:r>
            <a:r>
              <a:rPr sz="1500" b="0">
                <a:solidFill>
                  <a:srgbClr val="0F172A"/>
                </a:solidFill>
                <a:latin typeface="Arial"/>
              </a:rPr>
              <a:t>: Copia directorios completos de forma recursiva.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`mv` (Move/Rename)</a:t>
            </a:r>
            <a:r>
              <a:rPr sz="1500" b="0">
                <a:solidFill>
                  <a:srgbClr val="0F172A"/>
                </a:solidFill>
                <a:latin typeface="Arial"/>
              </a:rPr>
              <a:t>: Mueve archivos o carpetas a otra ubicación o cambia su nombre actual.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Si el destino es una carpeta existente, se mueve allí. Si es un nombre nuevo, actúa como renombrado.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Crear archivo y copiarlo a otro nombre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touch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cp archivo archivo-destino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Copiar directorio recursivamente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mkdir directorio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cp -r directorio directorio-destino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Renombrar archivos y directorios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mv archivo archivo-renombrado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mv directorio directorio-renombrado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02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Permisos y Propietarios de Archivos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PERMISOS Y PROPIETARIOS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El Sistema de Seguridad y Permisos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En Unix/Linux, el acceso a archivos está estrictamente controlado por permisos definidos para tres tipos de entidades: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1. </a:t>
            </a:r>
            <a:r>
              <a:rPr sz="1600" b="1">
                <a:solidFill>
                  <a:srgbClr val="0F172A"/>
                </a:solidFill>
                <a:latin typeface="Arial"/>
              </a:rPr>
              <a:t>Propietario (`u`)</a:t>
            </a:r>
            <a:r>
              <a:rPr sz="1600" b="0">
                <a:solidFill>
                  <a:srgbClr val="0F172A"/>
                </a:solidFill>
                <a:latin typeface="Arial"/>
              </a:rPr>
              <a:t>: El usuario dueño que creó el archivo originalmente.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2. </a:t>
            </a:r>
            <a:r>
              <a:rPr sz="1600" b="1">
                <a:solidFill>
                  <a:srgbClr val="0F172A"/>
                </a:solidFill>
                <a:latin typeface="Arial"/>
              </a:rPr>
              <a:t>Grupo (`g`)</a:t>
            </a:r>
            <a:r>
              <a:rPr sz="1600" b="0">
                <a:solidFill>
                  <a:srgbClr val="0F172A"/>
                </a:solidFill>
                <a:latin typeface="Arial"/>
              </a:rPr>
              <a:t>: Conjunto de usuarios del sistema con acceso colaborativo.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3. </a:t>
            </a:r>
            <a:r>
              <a:rPr sz="1600" b="1">
                <a:solidFill>
                  <a:srgbClr val="0F172A"/>
                </a:solidFill>
                <a:latin typeface="Arial"/>
              </a:rPr>
              <a:t>Otros (`o`)</a:t>
            </a:r>
            <a:r>
              <a:rPr sz="1600" b="0">
                <a:solidFill>
                  <a:srgbClr val="0F172A"/>
                </a:solidFill>
                <a:latin typeface="Arial"/>
              </a:rPr>
              <a:t>: Cualquier otra cuenta de usuario en el sistema operativo.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Cada archivo y directorio tiene tres permisos fundamentales aplicables a estas entidades: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Lectura (`r`)</a:t>
            </a:r>
            <a:r>
              <a:rPr sz="1600" b="0">
                <a:solidFill>
                  <a:srgbClr val="0F172A"/>
                </a:solidFill>
                <a:latin typeface="Arial"/>
              </a:rPr>
              <a:t>: Leer el contenido del archivo o listar archivos de un directorio.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Escritura (`w`)</a:t>
            </a:r>
            <a:r>
              <a:rPr sz="1600" b="0">
                <a:solidFill>
                  <a:srgbClr val="0F172A"/>
                </a:solidFill>
                <a:latin typeface="Arial"/>
              </a:rPr>
              <a:t>: Modificar archivos o crear/eliminar/renombrar en directorios.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Ejecución (`x`)</a:t>
            </a:r>
            <a:r>
              <a:rPr sz="1600" b="0">
                <a:solidFill>
                  <a:srgbClr val="0F172A"/>
                </a:solidFill>
                <a:latin typeface="Arial"/>
              </a:rPr>
              <a:t>: Correr scripts/programas o ingresar a un directorio con </a:t>
            </a:r>
            <a:r>
              <a:rPr sz="1600" b="1">
                <a:solidFill>
                  <a:srgbClr val="2563EB"/>
                </a:solidFill>
                <a:latin typeface="Consolas"/>
              </a:rPr>
              <a:t>cd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PERMISOS Y PROPIETARIOS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Modificación de Permisos: chmod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El comando </a:t>
            </a:r>
            <a:r>
              <a:rPr sz="1500" b="1">
                <a:solidFill>
                  <a:srgbClr val="0F172A"/>
                </a:solidFill>
                <a:latin typeface="Arial"/>
              </a:rPr>
              <a:t>`chmod`</a:t>
            </a:r>
            <a:r>
              <a:rPr sz="1500" b="0">
                <a:solidFill>
                  <a:srgbClr val="0F172A"/>
                </a:solidFill>
                <a:latin typeface="Arial"/>
              </a:rPr>
              <a:t> (Change Mode) modifica los permisos de acceso de un recurso.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Modo Octal</a:t>
            </a:r>
            <a:r>
              <a:rPr sz="1500" b="0">
                <a:solidFill>
                  <a:srgbClr val="0F172A"/>
                </a:solidFill>
                <a:latin typeface="Arial"/>
              </a:rPr>
              <a:t>: Suma valores numéricos (</a:t>
            </a:r>
            <a:r>
              <a:rPr sz="1500" b="1">
                <a:solidFill>
                  <a:srgbClr val="2563EB"/>
                </a:solidFill>
                <a:latin typeface="Consolas"/>
              </a:rPr>
              <a:t>r=4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w=2</a:t>
            </a:r>
            <a:r>
              <a:rPr sz="1500" b="0">
                <a:solidFill>
                  <a:srgbClr val="0F172A"/>
                </a:solidFill>
                <a:latin typeface="Arial"/>
              </a:rPr>
              <a:t>, </a:t>
            </a:r>
            <a:r>
              <a:rPr sz="1500" b="1">
                <a:solidFill>
                  <a:srgbClr val="2563EB"/>
                </a:solidFill>
                <a:latin typeface="Consolas"/>
              </a:rPr>
              <a:t>x=1</a:t>
            </a:r>
            <a:r>
              <a:rPr sz="1500" b="0">
                <a:solidFill>
                  <a:srgbClr val="0F172A"/>
                </a:solidFill>
                <a:latin typeface="Arial"/>
              </a:rPr>
              <a:t>):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755</a:t>
            </a:r>
            <a:r>
              <a:rPr sz="1500" b="0">
                <a:solidFill>
                  <a:srgbClr val="0F172A"/>
                </a:solidFill>
                <a:latin typeface="Arial"/>
              </a:rPr>
              <a:t> = Propietario completo (</a:t>
            </a:r>
            <a:r>
              <a:rPr sz="1500" b="1">
                <a:solidFill>
                  <a:srgbClr val="2563EB"/>
                </a:solidFill>
                <a:latin typeface="Consolas"/>
              </a:rPr>
              <a:t>rwx</a:t>
            </a:r>
            <a:r>
              <a:rPr sz="1500" b="0">
                <a:solidFill>
                  <a:srgbClr val="0F172A"/>
                </a:solidFill>
                <a:latin typeface="Arial"/>
              </a:rPr>
              <a:t> = 7), Grupo y Otros solo lectura/ejecución (</a:t>
            </a:r>
            <a:r>
              <a:rPr sz="1500" b="1">
                <a:solidFill>
                  <a:srgbClr val="2563EB"/>
                </a:solidFill>
                <a:latin typeface="Consolas"/>
              </a:rPr>
              <a:t>r-x</a:t>
            </a:r>
            <a:r>
              <a:rPr sz="1500" b="0">
                <a:solidFill>
                  <a:srgbClr val="0F172A"/>
                </a:solidFill>
                <a:latin typeface="Arial"/>
              </a:rPr>
              <a:t> = 5).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Modo Simbólico</a:t>
            </a:r>
            <a:r>
              <a:rPr sz="1500" b="0">
                <a:solidFill>
                  <a:srgbClr val="0F172A"/>
                </a:solidFill>
                <a:latin typeface="Arial"/>
              </a:rPr>
              <a:t>: Utiliza letras y operadores (+ o -):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u+rwx</a:t>
            </a:r>
            <a:r>
              <a:rPr sz="1500" b="0">
                <a:solidFill>
                  <a:srgbClr val="0F172A"/>
                </a:solidFill>
                <a:latin typeface="Arial"/>
              </a:rPr>
              <a:t> agrega permisos; </a:t>
            </a:r>
            <a:r>
              <a:rPr sz="1500" b="1">
                <a:solidFill>
                  <a:srgbClr val="2563EB"/>
                </a:solidFill>
                <a:latin typeface="Consolas"/>
              </a:rPr>
              <a:t>go-wx</a:t>
            </a:r>
            <a:r>
              <a:rPr sz="1500" b="0">
                <a:solidFill>
                  <a:srgbClr val="0F172A"/>
                </a:solidFill>
                <a:latin typeface="Arial"/>
              </a:rPr>
              <a:t> remueve escritura y ejecución.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Crear archivo y asignar permisos octales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touch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chmod 755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 -l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-rwxr-xr-x 1 ruben ruben ...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Modificar permisos usando símbolos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chmod u+rwx,go-wx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 -l archivo.txt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-rwxr--r-- 1 ruben ruben ... archivo.txt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PERMISOS Y PROPIETARIOS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Modificación de Propietarios: chown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El comando </a:t>
            </a:r>
            <a:r>
              <a:rPr sz="1500" b="1">
                <a:solidFill>
                  <a:srgbClr val="0F172A"/>
                </a:solidFill>
                <a:latin typeface="Arial"/>
              </a:rPr>
              <a:t>`chown`</a:t>
            </a:r>
            <a:r>
              <a:rPr sz="1500" b="0">
                <a:solidFill>
                  <a:srgbClr val="0F172A"/>
                </a:solidFill>
                <a:latin typeface="Arial"/>
              </a:rPr>
              <a:t> (Change Owner) reasigna el propietario y el grupo de un archivo.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Seguridad</a:t>
            </a:r>
            <a:r>
              <a:rPr sz="1500" b="0">
                <a:solidFill>
                  <a:srgbClr val="0F172A"/>
                </a:solidFill>
                <a:latin typeface="Arial"/>
              </a:rPr>
              <a:t>: Al ser una operación administrativa crítica, suele requerir privilegios de superusuario (</a:t>
            </a:r>
            <a:r>
              <a:rPr sz="1500" b="1">
                <a:solidFill>
                  <a:srgbClr val="2563EB"/>
                </a:solidFill>
                <a:latin typeface="Consolas"/>
              </a:rPr>
              <a:t>sudo</a:t>
            </a:r>
            <a:r>
              <a:rPr sz="15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Modos de asignación</a:t>
            </a:r>
            <a:r>
              <a:rPr sz="1500" b="0">
                <a:solidFill>
                  <a:srgbClr val="0F172A"/>
                </a:solidFill>
                <a:latin typeface="Arial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chown usuario archivo</a:t>
            </a:r>
            <a:r>
              <a:rPr sz="1500" b="0">
                <a:solidFill>
                  <a:srgbClr val="0F172A"/>
                </a:solidFill>
                <a:latin typeface="Arial"/>
              </a:rPr>
              <a:t>: Cambia el propietario.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chown :grupo archivo</a:t>
            </a:r>
            <a:r>
              <a:rPr sz="1500" b="0">
                <a:solidFill>
                  <a:srgbClr val="0F172A"/>
                </a:solidFill>
                <a:latin typeface="Arial"/>
              </a:rPr>
              <a:t>: Cambia únicamente el grupo.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chown usuario:grupo archivo</a:t>
            </a:r>
            <a:r>
              <a:rPr sz="1500" b="0">
                <a:solidFill>
                  <a:srgbClr val="0F172A"/>
                </a:solidFill>
                <a:latin typeface="Arial"/>
              </a:rPr>
              <a:t>: Cambia ambos al mismo tiempo.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Bash Terminal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Cambiar propietario a 'postgres'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sudo chown postgres archivo2.txt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Cambiar grupo a 'postgres'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sudo chown :postgres archivo2.txt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Cambiar propietario y grupo a 'ruben'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sudo chown ruben:ruben archivo2.txt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$ ls -l archivo2.txt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-rw-r--r-- 1 ruben ruben ... archivo2.txt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SECCIÓN 03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Manipulación de Archivos en 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Manejo de Archivos en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Arial"/>
              </a:rPr>
              <a:t>Python cuenta con soporte nativo para interactuar con archivos a través de su biblioteca estándar.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Apertura del archivo</a:t>
            </a:r>
            <a:r>
              <a:rPr sz="1600" b="0">
                <a:solidFill>
                  <a:srgbClr val="0F172A"/>
                </a:solidFill>
                <a:latin typeface="Arial"/>
              </a:rPr>
              <a:t>: Se realiza con la función integrada </a:t>
            </a:r>
            <a:r>
              <a:rPr sz="1600" b="1">
                <a:solidFill>
                  <a:srgbClr val="2563EB"/>
                </a:solidFill>
                <a:latin typeface="Consolas"/>
              </a:rPr>
              <a:t>open(ruta, modo)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 lvl="1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Modos de apertura comunes</a:t>
            </a:r>
            <a:r>
              <a:rPr sz="1600" b="0">
                <a:solidFill>
                  <a:srgbClr val="0F172A"/>
                </a:solidFill>
                <a:latin typeface="Arial"/>
              </a:rPr>
              <a:t>:</a:t>
            </a:r>
          </a:p>
          <a:p>
            <a:pPr lvl="2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Consolas"/>
              </a:rPr>
              <a:t>"r"</a:t>
            </a:r>
            <a:r>
              <a:rPr sz="1600" b="0">
                <a:solidFill>
                  <a:srgbClr val="0F172A"/>
                </a:solidFill>
                <a:latin typeface="Arial"/>
              </a:rPr>
              <a:t>: Lectura (modo por defecto). El archivo debe existir.</a:t>
            </a:r>
          </a:p>
          <a:p>
            <a:pPr lvl="2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Consolas"/>
              </a:rPr>
              <a:t>"w"</a:t>
            </a:r>
            <a:r>
              <a:rPr sz="1600" b="0">
                <a:solidFill>
                  <a:srgbClr val="0F172A"/>
                </a:solidFill>
                <a:latin typeface="Arial"/>
              </a:rPr>
              <a:t>: Escritura. Crea el archivo o sobrescribe su contenido actual.</a:t>
            </a:r>
          </a:p>
          <a:p>
            <a:pPr lvl="2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Consolas"/>
              </a:rPr>
              <a:t>"a"</a:t>
            </a:r>
            <a:r>
              <a:rPr sz="1600" b="0">
                <a:solidFill>
                  <a:srgbClr val="0F172A"/>
                </a:solidFill>
                <a:latin typeface="Arial"/>
              </a:rPr>
              <a:t>: Anexar. Escribe al final del archivo sin borrar lo existente.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Cierre de archivos</a:t>
            </a:r>
            <a:r>
              <a:rPr sz="1600" b="0">
                <a:solidFill>
                  <a:srgbClr val="0F172A"/>
                </a:solidFill>
                <a:latin typeface="Arial"/>
              </a:rPr>
              <a:t>: Siempre se debe llamar a </a:t>
            </a:r>
            <a:r>
              <a:rPr sz="1600" b="1">
                <a:solidFill>
                  <a:srgbClr val="2563EB"/>
                </a:solidFill>
                <a:latin typeface="Consolas"/>
              </a:rPr>
              <a:t>.close()</a:t>
            </a:r>
            <a:r>
              <a:rPr sz="1600" b="0">
                <a:solidFill>
                  <a:srgbClr val="0F172A"/>
                </a:solidFill>
                <a:latin typeface="Arial"/>
              </a:rPr>
              <a:t> para evitar fugas de memoria y bloqueos de recursos del sistema de archivos.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Flujos de Lectura, Escritura y 'with'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Lectura/Escritura Clásica</a:t>
            </a:r>
            <a:r>
              <a:rPr sz="1500" b="0">
                <a:solidFill>
                  <a:srgbClr val="0F172A"/>
                </a:solidFill>
                <a:latin typeface="Arial"/>
              </a:rPr>
              <a:t>: Requiere la secuencia manual de abrir, operar y cerrar el archivo.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Contexto `with`</a:t>
            </a:r>
            <a:r>
              <a:rPr sz="1500" b="0">
                <a:solidFill>
                  <a:srgbClr val="0F172A"/>
                </a:solidFill>
                <a:latin typeface="Arial"/>
              </a:rPr>
              <a:t>: El bloque </a:t>
            </a:r>
            <a:r>
              <a:rPr sz="1500" b="1">
                <a:solidFill>
                  <a:srgbClr val="2563EB"/>
                </a:solidFill>
                <a:latin typeface="Consolas"/>
              </a:rPr>
              <a:t>with</a:t>
            </a:r>
            <a:r>
              <a:rPr sz="1500" b="0">
                <a:solidFill>
                  <a:srgbClr val="0F172A"/>
                </a:solidFill>
                <a:latin typeface="Arial"/>
              </a:rPr>
              <a:t> administra el ciclo de vida del archivo automáticamente.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Incluso si ocurre un error dentro del bloque, Python garantiza que el recurso será cerrado correctamente al salir del contexto.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Es el método recomendado en buenas prácticas.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Python Script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Escritura clásica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archivo = open('archivo.txt', 'w')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archivo.write('Ejemplo de escritura')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archivo.close()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Lectura clásica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archivo = open('archivo.txt', 'r')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contenido = archivo.read()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print(contenido)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archivo.close()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Lectura recomendada con 'with'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with open('archivo.txt', 'r') as archivo: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contenido = archivo.read()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print(contenido)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Cerrado automático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El Módulo 'os' para el Sistema de Archivos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Arial"/>
              </a:rPr>
              <a:t>Para interactuar a nivel de sistema operativo (crear directorios, renombrar, eliminar), se utiliza el módulo nativo </a:t>
            </a:r>
            <a:r>
              <a:rPr sz="1500" b="1">
                <a:solidFill>
                  <a:srgbClr val="0F172A"/>
                </a:solidFill>
                <a:latin typeface="Arial"/>
              </a:rPr>
              <a:t>`os`</a:t>
            </a:r>
            <a:r>
              <a:rPr sz="15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Funciones principales</a:t>
            </a:r>
            <a:r>
              <a:rPr sz="1500" b="0">
                <a:solidFill>
                  <a:srgbClr val="0F172A"/>
                </a:solidFill>
                <a:latin typeface="Arial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os.getcwd()</a:t>
            </a:r>
            <a:r>
              <a:rPr sz="1500" b="0">
                <a:solidFill>
                  <a:srgbClr val="0F172A"/>
                </a:solidFill>
                <a:latin typeface="Arial"/>
              </a:rPr>
              <a:t>: Obtiene la ruta del directorio actual de trabajo.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os.mkdir(ruta)</a:t>
            </a:r>
            <a:r>
              <a:rPr sz="1500" b="0">
                <a:solidFill>
                  <a:srgbClr val="0F172A"/>
                </a:solidFill>
                <a:latin typeface="Arial"/>
              </a:rPr>
              <a:t>: Crea una carpeta en la ubicación indicada.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os.rename(origen, destino)</a:t>
            </a:r>
            <a:r>
              <a:rPr sz="1500" b="0">
                <a:solidFill>
                  <a:srgbClr val="0F172A"/>
                </a:solidFill>
                <a:latin typeface="Arial"/>
              </a:rPr>
              <a:t>: Mueve o renombra archivos/directorios.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os.remove(ruta)</a:t>
            </a:r>
            <a:r>
              <a:rPr sz="1500" b="0">
                <a:solidFill>
                  <a:srgbClr val="0F172A"/>
                </a:solidFill>
                <a:latin typeface="Arial"/>
              </a:rPr>
              <a:t>: Elimina un archivo permanentemente.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os.rmdir(ruta)</a:t>
            </a:r>
            <a:r>
              <a:rPr sz="1500" b="0">
                <a:solidFill>
                  <a:srgbClr val="0F172A"/>
                </a:solidFill>
                <a:latin typeface="Arial"/>
              </a:rPr>
              <a:t>: Borra un directorio si está vacío.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Python Script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Obtener directorio actual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dir_actual = os.getcwd()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Crear un nuevo directorio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os.mkdir('nuevo_dir')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Mover/Renombrar archivo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os.rename('archivo.txt', 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          'nuevo_dir/archivo.txt')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# Eliminar archivo y carpeta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os.remove('nuevo_dir/archivo.txt')</a:t>
            </a:r>
          </a:p>
          <a:p>
            <a:pPr>
              <a:spcAft>
                <a:spcPts val="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os.rmdir('nuevo_dir')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Recursos Adicionales y Lecturas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Libro Guía Principal</a:t>
            </a:r>
            <a:r>
              <a:rPr sz="1600" b="0">
                <a:solidFill>
                  <a:srgbClr val="0F172A"/>
                </a:solidFill>
                <a:latin typeface="Arial"/>
              </a:rPr>
              <a:t>: *"El entorno de programación UNIX"* - Capítulo 2 (Kernighan &amp; Pike). Un clásico fundamental para entender la filosofía y uso de Unix.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Libro Recomendado</a:t>
            </a:r>
            <a:r>
              <a:rPr sz="1600" b="0">
                <a:solidFill>
                  <a:srgbClr val="0F172A"/>
                </a:solidFill>
                <a:latin typeface="Arial"/>
              </a:rPr>
              <a:t>: *"The Art of Unix Programming"* (Eric S. Raymond). Ofrece contexto sobre las decisiones de diseño del sistema.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Documentación Oficial de Python</a:t>
            </a:r>
            <a:r>
              <a:rPr sz="1600" b="0">
                <a:solidFill>
                  <a:srgbClr val="0F172A"/>
                </a:solidFill>
                <a:latin typeface="Arial"/>
              </a:rPr>
              <a:t>: Consulta las guías oficiales para el módulo </a:t>
            </a:r>
            <a:r>
              <a:rPr sz="1600" b="1">
                <a:solidFill>
                  <a:srgbClr val="2563EB"/>
                </a:solidFill>
                <a:latin typeface="Consolas"/>
              </a:rPr>
              <a:t>os</a:t>
            </a:r>
            <a:r>
              <a:rPr sz="1600" b="0">
                <a:solidFill>
                  <a:srgbClr val="0F172A"/>
                </a:solidFill>
                <a:latin typeface="Arial"/>
              </a:rPr>
              <a:t> y las funciones built-in </a:t>
            </a:r>
            <a:r>
              <a:rPr sz="1600" b="1">
                <a:solidFill>
                  <a:srgbClr val="2563EB"/>
                </a:solidFill>
                <a:latin typeface="Consolas"/>
              </a:rPr>
              <a:t>open</a:t>
            </a:r>
            <a:r>
              <a:rPr sz="16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Comando `man`</a:t>
            </a:r>
            <a:r>
              <a:rPr sz="1600" b="0">
                <a:solidFill>
                  <a:srgbClr val="0F172A"/>
                </a:solidFill>
                <a:latin typeface="Arial"/>
              </a:rPr>
              <a:t>: Aprovecha el manual interactivo del shell (ej: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ls</a:t>
            </a:r>
            <a:r>
              <a:rPr sz="1600" b="0">
                <a:solidFill>
                  <a:srgbClr val="0F172A"/>
                </a:solidFill>
                <a:latin typeface="Arial"/>
              </a:rPr>
              <a:t>, </a:t>
            </a:r>
            <a:r>
              <a:rPr sz="1600" b="1">
                <a:solidFill>
                  <a:srgbClr val="2563EB"/>
                </a:solidFill>
                <a:latin typeface="Consolas"/>
              </a:rPr>
              <a:t>man chmod</a:t>
            </a:r>
            <a:r>
              <a:rPr sz="1600" b="0">
                <a:solidFill>
                  <a:srgbClr val="0F172A"/>
                </a:solidFill>
                <a:latin typeface="Arial"/>
              </a:rPr>
              <a:t>) en tu terminal Unix/Linux.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