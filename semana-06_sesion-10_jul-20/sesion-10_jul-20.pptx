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011680"/>
            <a:ext cx="137160" cy="29260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828800"/>
            <a:ext cx="9875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4000" b="1">
                <a:solidFill>
                  <a:srgbClr val="38BDF8"/>
                </a:solidFill>
                <a:latin typeface="Trebuchet MS"/>
              </a:defRPr>
            </a:pPr>
            <a:r>
              <a:t>Sesión 10: Herramientas Propias &amp; Control de Versiones con Git</a:t>
            </a:r>
          </a:p>
          <a:p>
            <a:pPr>
              <a:defRPr sz="2200">
                <a:solidFill>
                  <a:srgbClr val="94A3B8"/>
                </a:solidFill>
                <a:latin typeface="Calibri"/>
              </a:defRPr>
            </a:pPr>
            <a:r>
              <a:t>Creación de utilitarios de usuario, flujos de datos en Bash/Python/R y fundamentos de Git</a:t>
            </a:r>
          </a:p>
          <a:p>
            <a:br/>
            <a:pPr>
              <a:defRPr sz="1600">
                <a:solidFill>
                  <a:srgbClr val="34D399"/>
                </a:solidFill>
                <a:latin typeface="Calibri"/>
              </a:defRPr>
            </a:pPr>
            <a:r>
              <a:t>Curso: Programación Unix / Linux 1 — UCOM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Trebuchet MS"/>
              </a:defRPr>
            </a:pPr>
            <a:r>
              <a:t>Agenda y Objetivos de la Sesión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Herramientas Propias CLI: </a:t>
            </a:r>
            <a:r>
              <a:rPr sz="1600" b="0">
                <a:solidFill>
                  <a:srgbClr val="F8FAFC"/>
                </a:solidFill>
                <a:latin typeface="Calibri"/>
              </a:rPr>
              <a:t>Transformación de one-liners en comandos reutilizables.</a:t>
            </a:r>
          </a:p>
          <a:p>
            <a:pPr>
              <a:spcBef>
                <a:spcPts val="1000"/>
              </a:spcBef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Procesamiento de Streams: </a:t>
            </a:r>
            <a:r>
              <a:rPr sz="1600" b="0">
                <a:solidFill>
                  <a:srgbClr val="F8FAFC"/>
                </a:solidFill>
                <a:latin typeface="Calibri"/>
              </a:rPr>
              <a:t>Manejo de entrada estándar (stdin) y salida (stdout) en scripts.</a:t>
            </a:r>
          </a:p>
          <a:p>
            <a:pPr>
              <a:spcBef>
                <a:spcPts val="1000"/>
              </a:spcBef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Ubicación en $PATH: </a:t>
            </a:r>
            <a:r>
              <a:rPr sz="1600" b="0">
                <a:solidFill>
                  <a:srgbClr val="F8FAFC"/>
                </a:solidFill>
                <a:latin typeface="Calibri"/>
              </a:rPr>
              <a:t>Organización e instalación en carpetas de binarios del usuario (~/.local/bin).</a:t>
            </a:r>
          </a:p>
          <a:p>
            <a:pPr>
              <a:spcBef>
                <a:spcPts val="1000"/>
              </a:spcBef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Control de Versiones: </a:t>
            </a:r>
            <a:r>
              <a:rPr sz="1600" b="0">
                <a:solidFill>
                  <a:srgbClr val="F8FAFC"/>
                </a:solidFill>
                <a:latin typeface="Calibri"/>
              </a:rPr>
              <a:t>Fundamentos y flujo de trabajo colaborativo con Git.</a:t>
            </a:r>
          </a:p>
          <a:p>
            <a:pPr>
              <a:spcBef>
                <a:spcPts val="1000"/>
              </a:spcBef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Data Science en CLI: </a:t>
            </a:r>
            <a:r>
              <a:rPr sz="1600" b="0">
                <a:solidFill>
                  <a:srgbClr val="F8FAFC"/>
                </a:solidFill>
                <a:latin typeface="Calibri"/>
              </a:rPr>
              <a:t>Revisión de Capítulos 1, 2 y 3 del libro Data Science at the Command 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Trebuchet MS"/>
              </a:defRPr>
            </a:pPr>
            <a:r>
              <a:t>Creación de Herramientas Propias de Línea de Comando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48640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Filosofía Unix: </a:t>
            </a:r>
            <a:r>
              <a:rPr sz="1600" b="0">
                <a:solidFill>
                  <a:srgbClr val="F8FAFC"/>
                </a:solidFill>
                <a:latin typeface="Calibri"/>
              </a:rPr>
              <a:t>Diseñar herramientas pequeñas que hagan una sola cosa bien y se conecten con tuberías (|).</a:t>
            </a:r>
          </a:p>
          <a:p>
            <a:pPr>
              <a:spcBef>
                <a:spcPts val="1000"/>
              </a:spcBef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One-Liners a Utilitarios: </a:t>
            </a:r>
            <a:r>
              <a:rPr sz="1600" b="0">
                <a:solidFill>
                  <a:srgbClr val="F8FAFC"/>
                </a:solidFill>
                <a:latin typeface="Calibri"/>
              </a:rPr>
              <a:t>Evita escribir comandos largos repetidamente encapsulándolos en scripts ejecutables.</a:t>
            </a:r>
          </a:p>
          <a:p>
            <a:pPr>
              <a:spcBef>
                <a:spcPts val="1000"/>
              </a:spcBef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Parámetros y Flexibilidad: </a:t>
            </a:r>
            <a:r>
              <a:rPr sz="1600" b="0">
                <a:solidFill>
                  <a:srgbClr val="F8FAFC"/>
                </a:solidFill>
                <a:latin typeface="Calibri"/>
              </a:rPr>
              <a:t>Acepta argumentos por línea de comandos ($1, $2) o desde la entrada estándar.</a:t>
            </a:r>
          </a:p>
          <a:p>
            <a:pPr>
              <a:spcBef>
                <a:spcPts val="1000"/>
              </a:spcBef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Buenas Prácticas: </a:t>
            </a:r>
            <a:r>
              <a:rPr sz="1600" b="0">
                <a:solidFill>
                  <a:srgbClr val="F8FAFC"/>
                </a:solidFill>
                <a:latin typeface="Calibri"/>
              </a:rPr>
              <a:t>Incluye cabeceras shebang (#!/usr/bin/env bash) y otorga permisos de ejecución (chmod +x).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463040"/>
            <a:ext cx="4937760" cy="4846320"/>
          </a:xfrm>
          <a:prstGeom prst="roundRect">
            <a:avLst/>
          </a:prstGeom>
          <a:solidFill>
            <a:srgbClr val="020617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34D399"/>
                </a:solidFill>
                <a:latin typeface="Trebuchet MS"/>
              </a:defRPr>
            </a:pPr>
            <a:r>
              <a:t>💻 Código / Comandos CLI</a:t>
            </a:r>
          </a:p>
          <a:p>
            <a:pPr>
              <a:defRPr sz="1300">
                <a:solidFill>
                  <a:srgbClr val="7DD3FC"/>
                </a:solidFill>
                <a:latin typeface="Consolas"/>
              </a:defRPr>
            </a:pPr>
            <a:r>
              <a:t>#!/usr/bin/env bash</a:t>
            </a:r>
            <a:br/>
            <a:r>
              <a:t># top-words-5.sh: Muestra las 5 palabras más frecuentes</a:t>
            </a:r>
            <a:br/>
            <a:r>
              <a:t>NUM_LINES=${1:-5}</a:t>
            </a:r>
            <a:br/>
            <a:r>
              <a:t>tr -cs '[:alnum:]' '\n' | \</a:t>
            </a:r>
            <a:br/>
            <a:r>
              <a:t>  tr '[:upper:]' '[:lower:]' | \</a:t>
            </a:r>
            <a:br/>
            <a:r>
              <a:t>  sort | uniq -c | sort -nr | \</a:t>
            </a:r>
            <a:br/>
            <a:r>
              <a:t>  head -n "$NUM_LINES"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Trebuchet MS"/>
              </a:defRPr>
            </a:pPr>
            <a:r>
              <a:t>Procesamiento de Streams en Python y 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48640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Streams de Texto: </a:t>
            </a:r>
            <a:r>
              <a:rPr sz="1600" b="0">
                <a:solidFill>
                  <a:srgbClr val="F8FAFC"/>
                </a:solidFill>
                <a:latin typeface="Calibri"/>
              </a:rPr>
              <a:t>Interacción transparente con pipelines Unix sin importar el lenguaje de programación.</a:t>
            </a:r>
          </a:p>
          <a:p>
            <a:pPr>
              <a:spcBef>
                <a:spcPts val="1000"/>
              </a:spcBef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Integración en Python: </a:t>
            </a:r>
            <a:r>
              <a:rPr sz="1600" b="0">
                <a:solidFill>
                  <a:srgbClr val="F8FAFC"/>
                </a:solidFill>
                <a:latin typeface="Calibri"/>
              </a:rPr>
              <a:t>Uso de sys.stdin y sys.stdout para procesar datos línea por línea de manera eficiente.</a:t>
            </a:r>
          </a:p>
          <a:p>
            <a:pPr>
              <a:spcBef>
                <a:spcPts val="1000"/>
              </a:spcBef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Integración en R: </a:t>
            </a:r>
            <a:r>
              <a:rPr sz="1600" b="0">
                <a:solidFill>
                  <a:srgbClr val="F8FAFC"/>
                </a:solidFill>
                <a:latin typeface="Calibri"/>
              </a:rPr>
              <a:t>Uso de file('stdin') y writeLines() para scripts de análisis estadístico en tiempo real.</a:t>
            </a:r>
          </a:p>
          <a:p>
            <a:pPr>
              <a:spcBef>
                <a:spcPts val="1000"/>
              </a:spcBef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Ejemplo FizzBuzz: </a:t>
            </a:r>
            <a:r>
              <a:rPr sz="1600" b="0">
                <a:solidFill>
                  <a:srgbClr val="F8FAFC"/>
                </a:solidFill>
                <a:latin typeface="Calibri"/>
              </a:rPr>
              <a:t>Implementación modular accesible desde la terminal.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463040"/>
            <a:ext cx="4937760" cy="4846320"/>
          </a:xfrm>
          <a:prstGeom prst="roundRect">
            <a:avLst/>
          </a:prstGeom>
          <a:solidFill>
            <a:srgbClr val="020617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34D399"/>
                </a:solidFill>
                <a:latin typeface="Trebuchet MS"/>
              </a:defRPr>
            </a:pPr>
            <a:r>
              <a:t>💻 Código / Comandos CLI</a:t>
            </a:r>
          </a:p>
          <a:p>
            <a:pPr>
              <a:defRPr sz="1300">
                <a:solidFill>
                  <a:srgbClr val="7DD3FC"/>
                </a:solidFill>
                <a:latin typeface="Consolas"/>
              </a:defRPr>
            </a:pPr>
            <a:r>
              <a:t># stream.py: Filtra líneas desde stdin</a:t>
            </a:r>
            <a:br/>
            <a:r>
              <a:t>import sys</a:t>
            </a:r>
            <a:br/>
            <a:br/>
            <a:r>
              <a:t>for line in sys.stdin:</a:t>
            </a:r>
            <a:br/>
            <a:r>
              <a:t>    words = line.strip().split()</a:t>
            </a:r>
            <a:br/>
            <a:r>
              <a:t>    if len(words) &gt; 3:</a:t>
            </a:r>
            <a:br/>
            <a:r>
              <a:t>        sys.stdout.write(line)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Trebuchet MS"/>
              </a:defRPr>
            </a:pPr>
            <a:r>
              <a:t>Configuración del Entorno y $PATH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48640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El Variable $PATH: </a:t>
            </a:r>
            <a:r>
              <a:rPr sz="1600" b="0">
                <a:solidFill>
                  <a:srgbClr val="F8FAFC"/>
                </a:solidFill>
                <a:latin typeface="Calibri"/>
              </a:rPr>
              <a:t>Lista de directorios donde el Shell busca ejecutables cuando se invoca un comando.</a:t>
            </a:r>
          </a:p>
          <a:p>
            <a:pPr>
              <a:spcBef>
                <a:spcPts val="1000"/>
              </a:spcBef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Directorio del Usuario: </a:t>
            </a:r>
            <a:r>
              <a:rPr sz="1600" b="0">
                <a:solidFill>
                  <a:srgbClr val="F8FAFC"/>
                </a:solidFill>
                <a:latin typeface="Calibri"/>
              </a:rPr>
              <a:t>Uso de ~/.local/bin o /usr/local/bin para guardar utilitarios propios.</a:t>
            </a:r>
          </a:p>
          <a:p>
            <a:pPr>
              <a:spcBef>
                <a:spcPts val="1000"/>
              </a:spcBef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Configuración en .bashrc: </a:t>
            </a:r>
            <a:r>
              <a:rPr sz="1600" b="0">
                <a:solidFill>
                  <a:srgbClr val="F8FAFC"/>
                </a:solidFill>
                <a:latin typeface="Calibri"/>
              </a:rPr>
              <a:t>Agregar export PATH="$HOME/.local/bin:$PATH".</a:t>
            </a:r>
          </a:p>
          <a:p>
            <a:pPr>
              <a:spcBef>
                <a:spcPts val="1000"/>
              </a:spcBef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Permisos de Archivo: </a:t>
            </a:r>
            <a:r>
              <a:rPr sz="1600" b="0">
                <a:solidFill>
                  <a:srgbClr val="F8FAFC"/>
                </a:solidFill>
                <a:latin typeface="Calibri"/>
              </a:rPr>
              <a:t>Configurar permisos de lectura y ejecución con chmod +x mi_script.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463040"/>
            <a:ext cx="4937760" cy="4846320"/>
          </a:xfrm>
          <a:prstGeom prst="roundRect">
            <a:avLst/>
          </a:prstGeom>
          <a:solidFill>
            <a:srgbClr val="020617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34D399"/>
                </a:solidFill>
                <a:latin typeface="Trebuchet MS"/>
              </a:defRPr>
            </a:pPr>
            <a:r>
              <a:t>💻 Código / Comandos CLI</a:t>
            </a:r>
          </a:p>
          <a:p>
            <a:pPr>
              <a:defRPr sz="1300">
                <a:solidFill>
                  <a:srgbClr val="7DD3FC"/>
                </a:solidFill>
                <a:latin typeface="Consolas"/>
              </a:defRPr>
            </a:pPr>
            <a:r>
              <a:t># Crear carpeta personal de binarios</a:t>
            </a:r>
            <a:br/>
            <a:r>
              <a:t>mkdir -p ~/.local/bin</a:t>
            </a:r>
            <a:br/>
            <a:br/>
            <a:r>
              <a:t># Mover script y dar permisos</a:t>
            </a:r>
            <a:br/>
            <a:r>
              <a:t>cp top-words-5.sh ~/.local/bin/top-words</a:t>
            </a:r>
            <a:br/>
            <a:r>
              <a:t>chmod +x ~/.local/bin/top-words</a:t>
            </a:r>
            <a:br/>
            <a:br/>
            <a:r>
              <a:t># Probar ejecutable desde cualquier ubicación</a:t>
            </a:r>
            <a:br/>
            <a:r>
              <a:t>cat alice.txt | top-words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Trebuchet MS"/>
              </a:defRPr>
            </a:pPr>
            <a:r>
              <a:t>Tutorial Básico de Git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48640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Configuración Inicial: </a:t>
            </a:r>
            <a:r>
              <a:rPr sz="1600" b="0">
                <a:solidFill>
                  <a:srgbClr val="F8FAFC"/>
                </a:solidFill>
                <a:latin typeface="Calibri"/>
              </a:rPr>
              <a:t>Establecer usuario y correo global en la máquina.</a:t>
            </a:r>
          </a:p>
          <a:p>
            <a:pPr>
              <a:spcBef>
                <a:spcPts val="1000"/>
              </a:spcBef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Ciclo de Trabajo Local: </a:t>
            </a:r>
            <a:r>
              <a:rPr sz="1600" b="0">
                <a:solidFill>
                  <a:srgbClr val="F8FAFC"/>
                </a:solidFill>
                <a:latin typeface="Calibri"/>
              </a:rPr>
              <a:t>git init (crear repo), git status (estado), git add (staging), git commit (guardar).</a:t>
            </a:r>
          </a:p>
          <a:p>
            <a:pPr>
              <a:spcBef>
                <a:spcPts val="1000"/>
              </a:spcBef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Gestión de Ramas: </a:t>
            </a:r>
            <a:r>
              <a:rPr sz="1600" b="0">
                <a:solidFill>
                  <a:srgbClr val="F8FAFC"/>
                </a:solidFill>
                <a:latin typeface="Calibri"/>
              </a:rPr>
              <a:t>git branch (crear/listar), git checkout (cambiar), git merge (fusionar).</a:t>
            </a:r>
          </a:p>
          <a:p>
            <a:pPr>
              <a:spcBef>
                <a:spcPts val="1000"/>
              </a:spcBef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Repositorios Remotos: </a:t>
            </a:r>
            <a:r>
              <a:rPr sz="1600" b="0">
                <a:solidFill>
                  <a:srgbClr val="F8FAFC"/>
                </a:solidFill>
                <a:latin typeface="Calibri"/>
              </a:rPr>
              <a:t>git remote add origin (vincular), git push (subir cambios al servidor).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463040"/>
            <a:ext cx="4937760" cy="4846320"/>
          </a:xfrm>
          <a:prstGeom prst="roundRect">
            <a:avLst/>
          </a:prstGeom>
          <a:solidFill>
            <a:srgbClr val="020617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34D399"/>
                </a:solidFill>
                <a:latin typeface="Trebuchet MS"/>
              </a:defRPr>
            </a:pPr>
            <a:r>
              <a:t>💻 Código / Comandos CLI</a:t>
            </a:r>
          </a:p>
          <a:p>
            <a:pPr>
              <a:defRPr sz="1300">
                <a:solidFill>
                  <a:srgbClr val="7DD3FC"/>
                </a:solidFill>
                <a:latin typeface="Consolas"/>
              </a:defRPr>
            </a:pPr>
            <a:r>
              <a:t># Configuración global</a:t>
            </a:r>
            <a:br/>
            <a:r>
              <a:t>git config --global user.name "Tu Nombre"</a:t>
            </a:r>
            <a:br/>
            <a:r>
              <a:t>git config --global user.email "tu@email.com"</a:t>
            </a:r>
            <a:br/>
            <a:br/>
            <a:r>
              <a:t># Flujo de trabajo estándar</a:t>
            </a:r>
            <a:br/>
            <a:r>
              <a:t>git init</a:t>
            </a:r>
            <a:br/>
            <a:r>
              <a:t>git add .</a:t>
            </a:r>
            <a:br/>
            <a:r>
              <a:t>git commit -m "Inicializar proyecto Unix"</a:t>
            </a:r>
            <a:br/>
            <a:r>
              <a:t>git branch feature-limpieza</a:t>
            </a:r>
            <a:br/>
            <a:r>
              <a:t>git checkout feature-limpieza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Trebuchet MS"/>
              </a:defRPr>
            </a:pPr>
            <a:r>
              <a:t>Data Science at the Command Line (Caps 1-3)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48640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Capítulo 1: Introducción: </a:t>
            </a:r>
            <a:r>
              <a:rPr sz="1600" b="0">
                <a:solidFill>
                  <a:srgbClr val="F8FAFC"/>
                </a:solidFill>
                <a:latin typeface="Calibri"/>
              </a:rPr>
              <a:t>Por qué la línea de comandos es ágil, extensible y permanente para Data Science.</a:t>
            </a:r>
          </a:p>
          <a:p>
            <a:pPr>
              <a:spcBef>
                <a:spcPts val="1000"/>
              </a:spcBef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Capítulo 2: Entorno: </a:t>
            </a:r>
            <a:r>
              <a:rPr sz="1600" b="0">
                <a:solidFill>
                  <a:srgbClr val="F8FAFC"/>
                </a:solidFill>
                <a:latin typeface="Calibri"/>
              </a:rPr>
              <a:t>Herramientas esenciales, Docker container y entorno bash optimizado.</a:t>
            </a:r>
          </a:p>
          <a:p>
            <a:pPr>
              <a:spcBef>
                <a:spcPts val="1000"/>
              </a:spcBef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Capítulo 3: Obtención de Datos: </a:t>
            </a:r>
            <a:r>
              <a:rPr sz="1600" b="0">
                <a:solidFill>
                  <a:srgbClr val="F8FAFC"/>
                </a:solidFill>
                <a:latin typeface="Calibri"/>
              </a:rPr>
              <a:t>Uso de curl, wget, APIs REST y herramientas de scraping de páginas web.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463040"/>
            <a:ext cx="4937760" cy="4846320"/>
          </a:xfrm>
          <a:prstGeom prst="roundRect">
            <a:avLst/>
          </a:prstGeom>
          <a:solidFill>
            <a:srgbClr val="020617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34D399"/>
                </a:solidFill>
                <a:latin typeface="Trebuchet MS"/>
              </a:defRPr>
            </a:pPr>
            <a:r>
              <a:t>💻 Código / Comandos CLI</a:t>
            </a:r>
          </a:p>
          <a:p>
            <a:pPr>
              <a:defRPr sz="1300">
                <a:solidFill>
                  <a:srgbClr val="7DD3FC"/>
                </a:solidFill>
                <a:latin typeface="Consolas"/>
              </a:defRPr>
            </a:pPr>
            <a:r>
              <a:t># Descarga de datos via API REST</a:t>
            </a:r>
            <a:br/>
            <a:r>
              <a:t>curl -s "https://api.github.com/users/octocat" | jq .</a:t>
            </a:r>
            <a:br/>
            <a:br/>
            <a:r>
              <a:t># Scrape de HTML a texto plano</a:t>
            </a:r>
            <a:br/>
            <a:r>
              <a:t>curl -s "https://example.com" | pup 'p text{}'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Trebuchet MS"/>
              </a:defRPr>
            </a:pPr>
            <a:r>
              <a:t>Conclusiones de la Sesión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Caja de Herramientas Personal: </a:t>
            </a:r>
            <a:r>
              <a:rPr sz="1600" b="0">
                <a:solidFill>
                  <a:srgbClr val="F8FAFC"/>
                </a:solidFill>
                <a:latin typeface="Calibri"/>
              </a:rPr>
              <a:t>Construcción de un conjunto propio de utilitarios ejecutables.</a:t>
            </a:r>
          </a:p>
          <a:p>
            <a:pPr>
              <a:spcBef>
                <a:spcPts val="1000"/>
              </a:spcBef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Productividad Aumentada: </a:t>
            </a:r>
            <a:r>
              <a:rPr sz="1600" b="0">
                <a:solidFill>
                  <a:srgbClr val="F8FAFC"/>
                </a:solidFill>
                <a:latin typeface="Calibri"/>
              </a:rPr>
              <a:t>Automatización de tareas repetitivas mediante scripts en $PATH.</a:t>
            </a:r>
          </a:p>
          <a:p>
            <a:pPr>
              <a:spcBef>
                <a:spcPts val="1000"/>
              </a:spcBef>
              <a:defRPr sz="1700" b="1">
                <a:solidFill>
                  <a:srgbClr val="34D399"/>
                </a:solidFill>
                <a:latin typeface="Calibri"/>
              </a:defRPr>
            </a:pPr>
            <a:r>
              <a:t>• Control de Versiones: </a:t>
            </a:r>
            <a:r>
              <a:rPr sz="1600" b="0">
                <a:solidFill>
                  <a:srgbClr val="F8FAFC"/>
                </a:solidFill>
                <a:latin typeface="Calibri"/>
              </a:rPr>
              <a:t>Trazabilidad completa de proyectos de datos e infraestructura con Git.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