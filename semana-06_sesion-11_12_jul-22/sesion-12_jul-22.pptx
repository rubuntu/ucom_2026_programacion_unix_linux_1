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38BDF8"/>
                </a:solidFill>
                <a:latin typeface="Trebuchet MS"/>
              </a:defRPr>
            </a:pPr>
            <a:r>
              <a:t>Sesión 12: Exploración de Datos (EDA en Línea de Comandos)</a:t>
            </a:r>
          </a:p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t>Análisis exploratorio, estadísticas descriptivas y generación de gráficos desde la terminal</a:t>
            </a:r>
          </a:p>
          <a:p>
            <a:br/>
            <a:pPr>
              <a:defRPr sz="1600">
                <a:solidFill>
                  <a:srgbClr val="34D399"/>
                </a:solidFill>
                <a:latin typeface="Calibri"/>
              </a:defRPr>
            </a:pPr>
            <a:r>
              <a:t>Curso: Programación Unix / Linux 1 — 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Agenda y 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Exploratorio de Datos (EDA): </a:t>
            </a:r>
            <a:r>
              <a:rPr sz="1600" b="0">
                <a:solidFill>
                  <a:srgbClr val="F8FAFC"/>
                </a:solidFill>
                <a:latin typeface="Calibri"/>
              </a:rPr>
              <a:t>Tercer paso del modelo OSEMN: comprender la estructura y patrones.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Las 3 Perspectivas de EDA: </a:t>
            </a:r>
            <a:r>
              <a:rPr sz="1600" b="0">
                <a:solidFill>
                  <a:srgbClr val="F8FAFC"/>
                </a:solidFill>
                <a:latin typeface="Calibri"/>
              </a:rPr>
              <a:t>Inspección de propiedades, cálculo de estadísticas y visualizaciones.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Estadísticas Descriptivas CLI: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de csvstat, summary, min/max, media y desviaciones.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Visualizaciones Gráficas: </a:t>
            </a:r>
            <a:r>
              <a:rPr sz="1600" b="0">
                <a:solidFill>
                  <a:srgbClr val="F8FAFC"/>
                </a:solidFill>
                <a:latin typeface="Calibri"/>
              </a:rPr>
              <a:t>Generación de histogramas, boxplots, scatter plots y gráficos de barras.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Casos Prácticos con Datasets: </a:t>
            </a:r>
            <a:r>
              <a:rPr sz="1600" b="0">
                <a:solidFill>
                  <a:srgbClr val="F8FAFC"/>
                </a:solidFill>
                <a:latin typeface="Calibri"/>
              </a:rPr>
              <a:t>Titanic, German Credit, Auto MPG y House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Las 3 Perspectivas de la Exploración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1. Inspección de Estructura: </a:t>
            </a:r>
            <a:r>
              <a:rPr sz="1600" b="0">
                <a:solidFill>
                  <a:srgbClr val="F8FAFC"/>
                </a:solidFill>
                <a:latin typeface="Calibri"/>
              </a:rPr>
              <a:t>Visualizar filas iniciales/finales (head, tail), contar registros (wc -l), listar columnas.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2. Estadísticas Descriptivas: </a:t>
            </a:r>
            <a:r>
              <a:rPr sz="1600" b="0">
                <a:solidFill>
                  <a:srgbClr val="F8FAFC"/>
                </a:solidFill>
                <a:latin typeface="Calibri"/>
              </a:rPr>
              <a:t>Calcular medidas de tendencia central, dispersión, frecuencias y valores nulos.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3. Visualización Gráfica: </a:t>
            </a:r>
            <a:r>
              <a:rPr sz="1600" b="0">
                <a:solidFill>
                  <a:srgbClr val="F8FAFC"/>
                </a:solidFill>
                <a:latin typeface="Calibri"/>
              </a:rPr>
              <a:t>Crear diagramas visuales para identificar distribuciones, outliers y correlaciones.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Inspección de Propiedades y Estructura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Inspección de Dimensión: </a:t>
            </a:r>
            <a:r>
              <a:rPr sz="1600" b="0">
                <a:solidFill>
                  <a:srgbClr val="F8FAFC"/>
                </a:solidFill>
                <a:latin typeface="Calibri"/>
              </a:rPr>
              <a:t>Verificar cantidad de filas y columnas con wc y csvcut -n.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Muestreo de Registros: </a:t>
            </a:r>
            <a:r>
              <a:rPr sz="1600" b="0">
                <a:solidFill>
                  <a:srgbClr val="F8FAFC"/>
                </a:solidFill>
                <a:latin typeface="Calibri"/>
              </a:rPr>
              <a:t>Visualización rápida de datos tabulares con csvlook o head.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Tipos de Datos: </a:t>
            </a:r>
            <a:r>
              <a:rPr sz="1600" b="0">
                <a:solidFill>
                  <a:srgbClr val="F8FAFC"/>
                </a:solidFill>
                <a:latin typeface="Calibri"/>
              </a:rPr>
              <a:t>Identificar variables numéricas, categóricas y temporales.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Listar nombres de columnas e índices</a:t>
            </a:r>
            <a:br/>
            <a:r>
              <a:t>csvcut -n GermanCredit.csv</a:t>
            </a:r>
            <a:br/>
            <a:br/>
            <a:r>
              <a:t># Ver primeras 5 filas alineadas como tabla</a:t>
            </a:r>
            <a:br/>
            <a:r>
              <a:t>head -n 6 auto-mpg.csv | csvlook</a:t>
            </a:r>
            <a:br/>
            <a:br/>
            <a:r>
              <a:t># Conter total de registros</a:t>
            </a:r>
            <a:br/>
            <a:r>
              <a:t>wc -l Titanic.csv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Cálculo de Estadísticas Descriptivas con csvstat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Resumen Automático: </a:t>
            </a:r>
            <a:r>
              <a:rPr sz="1600" b="0">
                <a:solidFill>
                  <a:srgbClr val="F8FAFC"/>
                </a:solidFill>
                <a:latin typeface="Calibri"/>
              </a:rPr>
              <a:t>csvstat calcula tipo de dato, min, max, media, mediana, stdev y valores únicos.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Detección de Nulos: </a:t>
            </a:r>
            <a:r>
              <a:rPr sz="1600" b="0">
                <a:solidFill>
                  <a:srgbClr val="F8FAFC"/>
                </a:solidFill>
                <a:latin typeface="Calibri"/>
              </a:rPr>
              <a:t>Identificación precisa de campos faltantes en cada columna.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Distribución de Frecuencias: </a:t>
            </a:r>
            <a:r>
              <a:rPr sz="1600" b="0">
                <a:solidFill>
                  <a:srgbClr val="F8FAFC"/>
                </a:solidFill>
                <a:latin typeface="Calibri"/>
              </a:rPr>
              <a:t>Conteo de valores categóricos dominantes.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Obtener estadísticas de todo el conjunto</a:t>
            </a:r>
            <a:br/>
            <a:r>
              <a:t>csvstat tips.csv</a:t>
            </a:r>
            <a:br/>
            <a:br/>
            <a:r>
              <a:t># Resumen de una columna específica</a:t>
            </a:r>
            <a:br/>
            <a:r>
              <a:t>csvcut -c "total_bill" tips.csv | csvstat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Visualización de Datos desde la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Histogramas (plot-histogram.png): </a:t>
            </a:r>
            <a:r>
              <a:rPr sz="1600" b="0">
                <a:solidFill>
                  <a:srgbClr val="F8FAFC"/>
                </a:solidFill>
                <a:latin typeface="Calibri"/>
              </a:rPr>
              <a:t>Visualización de la distribución de frecuencias de variables continuas.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Diagramas de Caja (plot-boxplot.png): </a:t>
            </a:r>
            <a:r>
              <a:rPr sz="1600" b="0">
                <a:solidFill>
                  <a:srgbClr val="F8FAFC"/>
                </a:solidFill>
                <a:latin typeface="Calibri"/>
              </a:rPr>
              <a:t>Detección gráfica de valores atípicos (outliers) y cuartiles.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Gráficos de Dispersión (plot-scatter.png): </a:t>
            </a:r>
            <a:r>
              <a:rPr sz="1600" b="0">
                <a:solidFill>
                  <a:srgbClr val="F8FAFC"/>
                </a:solidFill>
                <a:latin typeface="Calibri"/>
              </a:rPr>
              <a:t>Análisis de correlación y relación entre dos variables numéricas.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Gráficos de Barras (plot-bar.png): </a:t>
            </a:r>
            <a:r>
              <a:rPr sz="1600" b="0">
                <a:solidFill>
                  <a:srgbClr val="F8FAFC"/>
                </a:solidFill>
                <a:latin typeface="Calibri"/>
              </a:rPr>
              <a:t>Comparación de frecuencias entre categorías.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Generar gráfico de dispersión en el dataset Titanic</a:t>
            </a:r>
            <a:br/>
            <a:r>
              <a:t># Muestra relación entre Edad y Tarifa pagada</a:t>
            </a:r>
            <a:br/>
            <a:r>
              <a:t>./eval-titanic.sh</a:t>
            </a:r>
            <a:br/>
            <a:br/>
            <a:r>
              <a:t># Renderizado de gráfico de histograma de precios</a:t>
            </a:r>
            <a:br/>
            <a:r>
              <a:t># Salida a imagen PNG lista para reportes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Casos Prácticos: Datasets Titanic y GermanCredit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Dataset Titanic: </a:t>
            </a:r>
            <a:r>
              <a:rPr sz="1600" b="0">
                <a:solidFill>
                  <a:srgbClr val="F8FAFC"/>
                </a:solidFill>
                <a:latin typeface="Calibri"/>
              </a:rPr>
              <a:t>Análisis de tasa de supervivencia agrupada por clase de pasaje y género.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German Credit: </a:t>
            </a:r>
            <a:r>
              <a:rPr sz="1600" b="0">
                <a:solidFill>
                  <a:srgbClr val="F8FAFC"/>
                </a:solidFill>
                <a:latin typeface="Calibri"/>
              </a:rPr>
              <a:t>Evaluación del perfil de riesgo crediticio de solicitantes de préstamos.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Auto MPG: </a:t>
            </a:r>
            <a:r>
              <a:rPr sz="1600" b="0">
                <a:solidFill>
                  <a:srgbClr val="F8FAFC"/>
                </a:solidFill>
                <a:latin typeface="Calibri"/>
              </a:rPr>
              <a:t>Estudio del consumo de combustible y su correlación con la potencia y peso del vehículo.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Agrupamiento de supervivencia en Titanic</a:t>
            </a:r>
            <a:br/>
            <a:r>
              <a:t>cat train.csv | \</a:t>
            </a:r>
            <a:br/>
            <a:r>
              <a:t>  csvsql --query \</a:t>
            </a:r>
            <a:br/>
            <a:r>
              <a:t>  "SELECT Pclass, Sex, AVG(Survived) FROM stdin GROUP BY Pclass, Sex"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Conclusiones del Curso Unix/Linux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Ciclo Completo de Data Science: </a:t>
            </a:r>
            <a:r>
              <a:rPr sz="1600" b="0">
                <a:solidFill>
                  <a:srgbClr val="F8FAFC"/>
                </a:solidFill>
                <a:latin typeface="Calibri"/>
              </a:rPr>
              <a:t>Dominio de Obtención, Limpieza y Exploración únicamente desde la CLI.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Reproducibilidad: </a:t>
            </a:r>
            <a:r>
              <a:rPr sz="1600" b="0">
                <a:solidFill>
                  <a:srgbClr val="F8FAFC"/>
                </a:solidFill>
                <a:latin typeface="Calibri"/>
              </a:rPr>
              <a:t>Todos los análisis se documentan en scripts ejecutables y notebooks Jupyter.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Escalabilidad: </a:t>
            </a:r>
            <a:r>
              <a:rPr sz="1600" b="0">
                <a:solidFill>
                  <a:srgbClr val="F8FAFC"/>
                </a:solidFill>
                <a:latin typeface="Calibri"/>
              </a:rPr>
              <a:t>Capacidad de procesar datasets masivos con recursos mínimos del sistema.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