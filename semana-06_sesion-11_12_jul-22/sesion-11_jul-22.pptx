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37160" cy="29260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828800"/>
            <a:ext cx="9875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000" b="1">
                <a:solidFill>
                  <a:srgbClr val="38BDF8"/>
                </a:solidFill>
                <a:latin typeface="Trebuchet MS"/>
              </a:defRPr>
            </a:pPr>
            <a:r>
              <a:t>Sesión 11: Preparación de Datos (Data Scrubbing &amp; Wrangling)</a:t>
            </a:r>
          </a:p>
          <a:p>
            <a:pPr>
              <a:defRPr sz="2200">
                <a:solidFill>
                  <a:srgbClr val="94A3B8"/>
                </a:solidFill>
                <a:latin typeface="Calibri"/>
              </a:defRPr>
            </a:pPr>
            <a:r>
              <a:t>Limpieza, filtrado y conversión de datos tabulares, JSON y HTML con herramientas Unix</a:t>
            </a:r>
          </a:p>
          <a:p>
            <a:br/>
            <a:pPr>
              <a:defRPr sz="1600">
                <a:solidFill>
                  <a:srgbClr val="34D399"/>
                </a:solidFill>
                <a:latin typeface="Calibri"/>
              </a:defRPr>
            </a:pPr>
            <a:r>
              <a:t>Curso: Programación Unix / Linux 1 — UCOM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Trebuchet MS"/>
              </a:defRPr>
            </a:pPr>
            <a:r>
              <a:t>Agenda y Objetivos de la Sesión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Modelo OSEMN: </a:t>
            </a:r>
            <a:r>
              <a:rPr sz="1600" b="0">
                <a:solidFill>
                  <a:srgbClr val="F8FAFC"/>
                </a:solidFill>
                <a:latin typeface="Calibri"/>
              </a:rPr>
              <a:t>Enfoque en el segundo paso: Scrubbing (Limpieza y preparación de datos).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Conversión de Formatos: </a:t>
            </a:r>
            <a:r>
              <a:rPr sz="1600" b="0">
                <a:solidFill>
                  <a:srgbClr val="F8FAFC"/>
                </a:solidFill>
                <a:latin typeface="Calibri"/>
              </a:rPr>
              <a:t>Transformación entre JSON, CSV, HTML y Markdown.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Tratamiento de Inconsistencias: </a:t>
            </a:r>
            <a:r>
              <a:rPr sz="1600" b="0">
                <a:solidFill>
                  <a:srgbClr val="F8FAFC"/>
                </a:solidFill>
                <a:latin typeface="Calibri"/>
              </a:rPr>
              <a:t>Manejo de valores faltantes, delimitadores y caracteres especiales.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Herramientas Especializadas: </a:t>
            </a:r>
            <a:r>
              <a:rPr sz="1600" b="0">
                <a:solidFill>
                  <a:srgbClr val="F8FAFC"/>
                </a:solidFill>
                <a:latin typeface="Calibri"/>
              </a:rPr>
              <a:t>Uso práctico de grep, awk, sed, jq, pup y csvkit.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Casos Prácticos con Datasets: </a:t>
            </a:r>
            <a:r>
              <a:rPr sz="1600" b="0">
                <a:solidFill>
                  <a:srgbClr val="F8FAFC"/>
                </a:solidFill>
                <a:latin typeface="Calibri"/>
              </a:rPr>
              <a:t>Procesamiento de iris.csv, tips.csv, users.json y tablas HTML de Wikipedia.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Trebuchet MS"/>
              </a:defRPr>
            </a:pPr>
            <a:r>
              <a:t>El Marco OSEMN: Enfocados en Scrub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Obtain (Obtener): </a:t>
            </a:r>
            <a:r>
              <a:rPr sz="1600" b="0">
                <a:solidFill>
                  <a:srgbClr val="F8FAFC"/>
                </a:solidFill>
                <a:latin typeface="Calibri"/>
              </a:rPr>
              <a:t>Capturar datos desde fuentes locales, APIs o web scraping.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Scrub (Limpiar): </a:t>
            </a:r>
            <a:r>
              <a:rPr sz="1600" b="0">
                <a:solidFill>
                  <a:srgbClr val="F8FAFC"/>
                </a:solidFill>
                <a:latin typeface="Calibri"/>
              </a:rPr>
              <a:t>Formatear, filtrar, normalizar y estructurar datos para análisis.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Explore (Explorar): </a:t>
            </a:r>
            <a:r>
              <a:rPr sz="1600" b="0">
                <a:solidFill>
                  <a:srgbClr val="F8FAFC"/>
                </a:solidFill>
                <a:latin typeface="Calibri"/>
              </a:rPr>
              <a:t>Inspección de distribuciones y estadísticas descriptivas.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Model (Modelar): </a:t>
            </a:r>
            <a:r>
              <a:rPr sz="1600" b="0">
                <a:solidFill>
                  <a:srgbClr val="F8FAFC"/>
                </a:solidFill>
                <a:latin typeface="Calibri"/>
              </a:rPr>
              <a:t>Construcción de modelos predictivos y algoritmos de Machine Learning.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iNterpret (Interpretar): </a:t>
            </a:r>
            <a:r>
              <a:rPr sz="1600" b="0">
                <a:solidFill>
                  <a:srgbClr val="F8FAFC"/>
                </a:solidFill>
                <a:latin typeface="Calibri"/>
              </a:rPr>
              <a:t>Comunicación de hallazgos y toma de decisiones basadas en datos.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Trebuchet MS"/>
              </a:defRPr>
            </a:pPr>
            <a:r>
              <a:t>Conversión entre Formatos de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Formatos Comunes: </a:t>
            </a:r>
            <a:r>
              <a:rPr sz="1600" b="0">
                <a:solidFill>
                  <a:srgbClr val="F8FAFC"/>
                </a:solidFill>
                <a:latin typeface="Calibri"/>
              </a:rPr>
              <a:t>JSON (jerárquico), CSV (tabular), HTML (marcado web), Markdown (documentación).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JSON a CSV con jq / in2csv: </a:t>
            </a:r>
            <a:r>
              <a:rPr sz="1600" b="0">
                <a:solidFill>
                  <a:srgbClr val="F8FAFC"/>
                </a:solidFill>
                <a:latin typeface="Calibri"/>
              </a:rPr>
              <a:t>Aplanar estructuras complejas a filas y columnas.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HTML a JSON/CSV con pup: </a:t>
            </a:r>
            <a:r>
              <a:rPr sz="1600" b="0">
                <a:solidFill>
                  <a:srgbClr val="F8FAFC"/>
                </a:solidFill>
                <a:latin typeface="Calibri"/>
              </a:rPr>
              <a:t>Extracción selectiva de tablas HTML usando selectores CSS.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Tablas a Markdown: </a:t>
            </a:r>
            <a:r>
              <a:rPr sz="1600" b="0">
                <a:solidFill>
                  <a:srgbClr val="F8FAFC"/>
                </a:solidFill>
                <a:latin typeface="Calibri"/>
              </a:rPr>
              <a:t>Conversión limpia para reportes e integración en notebooks.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4937760" cy="4846320"/>
          </a:xfrm>
          <a:prstGeom prst="roundRect">
            <a:avLst/>
          </a:prstGeom>
          <a:solidFill>
            <a:srgbClr val="02061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34D399"/>
                </a:solidFill>
                <a:latin typeface="Trebuchet MS"/>
              </a:defRPr>
            </a:pPr>
            <a:r>
              <a:t>💻 Código / Comandos CLI</a:t>
            </a:r>
          </a:p>
          <a:p>
            <a:pPr>
              <a:defRPr sz="1300">
                <a:solidFill>
                  <a:srgbClr val="7DD3FC"/>
                </a:solidFill>
                <a:latin typeface="Consolas"/>
              </a:defRPr>
            </a:pPr>
            <a:r>
              <a:t># Convertir JSON a CSV usando in2csv</a:t>
            </a:r>
            <a:br/>
            <a:r>
              <a:t>in2csv users.json &gt; users.csv</a:t>
            </a:r>
            <a:br/>
            <a:br/>
            <a:r>
              <a:t># Extraer tabla de Wikipedia con pup y jq</a:t>
            </a:r>
            <a:br/>
            <a:r>
              <a:t>curl -s "https://en.wikipedia.org/wiki/List_of_countries" | \</a:t>
            </a:r>
            <a:br/>
            <a:r>
              <a:t>  pup 'table.wikitable json{}' | \</a:t>
            </a:r>
            <a:br/>
            <a:r>
              <a:t>  jq -r '.[0].children[]...'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Trebuchet MS"/>
              </a:defRPr>
            </a:pPr>
            <a:r>
              <a:t>Limpieza de Texto y CSV con Utilitarios Unix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Filtrado de Líneas (grep / rg): </a:t>
            </a:r>
            <a:r>
              <a:rPr sz="1600" b="0">
                <a:solidFill>
                  <a:srgbClr val="F8FAFC"/>
                </a:solidFill>
                <a:latin typeface="Calibri"/>
              </a:rPr>
              <a:t>Eliminar encabezados duplicados, comentarios o filas inválidas.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Sustitución de Patrones (sed): </a:t>
            </a:r>
            <a:r>
              <a:rPr sz="1600" b="0">
                <a:solidFill>
                  <a:srgbClr val="F8FAFC"/>
                </a:solidFill>
                <a:latin typeface="Calibri"/>
              </a:rPr>
              <a:t>Reemplazar separadores desalineados y limpiar caracteres invisibles.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Transformación por Columnas (awk): </a:t>
            </a:r>
            <a:r>
              <a:rPr sz="1600" b="0">
                <a:solidFill>
                  <a:srgbClr val="F8FAFC"/>
                </a:solidFill>
                <a:latin typeface="Calibri"/>
              </a:rPr>
              <a:t>Reorganizar campos, calcular totales e imputar valores por defecto.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Ordenamiento y Duplicados (sort / uniq): </a:t>
            </a:r>
            <a:r>
              <a:rPr sz="1600" b="0">
                <a:solidFill>
                  <a:srgbClr val="F8FAFC"/>
                </a:solidFill>
                <a:latin typeface="Calibri"/>
              </a:rPr>
              <a:t>Eliminar registros idénticos y ordenar claves.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4937760" cy="4846320"/>
          </a:xfrm>
          <a:prstGeom prst="roundRect">
            <a:avLst/>
          </a:prstGeom>
          <a:solidFill>
            <a:srgbClr val="02061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34D399"/>
                </a:solidFill>
                <a:latin typeface="Trebuchet MS"/>
              </a:defRPr>
            </a:pPr>
            <a:r>
              <a:t>💻 Código / Comandos CLI</a:t>
            </a:r>
          </a:p>
          <a:p>
            <a:pPr>
              <a:defRPr sz="1300">
                <a:solidFill>
                  <a:srgbClr val="7DD3FC"/>
                </a:solidFill>
                <a:latin typeface="Consolas"/>
              </a:defRPr>
            </a:pPr>
            <a:r>
              <a:t># Filtrar líneas vacías y limpiar comillas en CSV</a:t>
            </a:r>
            <a:br/>
            <a:r>
              <a:t>cat tips.csv | \</a:t>
            </a:r>
            <a:br/>
            <a:r>
              <a:t>  grep -v '^$' | \</a:t>
            </a:r>
            <a:br/>
            <a:r>
              <a:t>  sed 's/"//g' | \</a:t>
            </a:r>
            <a:br/>
            <a:r>
              <a:t>  awk -F',' '$3 &gt; 10 {print $1, $2, $3}'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Trebuchet MS"/>
              </a:defRPr>
            </a:pPr>
            <a:r>
              <a:t>Manipulación de JSON Estructurado con jq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Estructuras Complejas: </a:t>
            </a:r>
            <a:r>
              <a:rPr sz="1600" b="0">
                <a:solidFill>
                  <a:srgbClr val="F8FAFC"/>
                </a:solidFill>
                <a:latin typeface="Calibri"/>
              </a:rPr>
              <a:t>Filtrado y proyección de documentos JSON anidados.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Sintaxis de Filtros: </a:t>
            </a:r>
            <a:r>
              <a:rPr sz="1600" b="0">
                <a:solidFill>
                  <a:srgbClr val="F8FAFC"/>
                </a:solidFill>
                <a:latin typeface="Calibri"/>
              </a:rPr>
              <a:t>.campo para acceder a claves, .[] para iterar sobre arreglos.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Transformación a CSV: </a:t>
            </a:r>
            <a:r>
              <a:rPr sz="1600" b="0">
                <a:solidFill>
                  <a:srgbClr val="F8FAFC"/>
                </a:solidFill>
                <a:latin typeface="Calibri"/>
              </a:rPr>
              <a:t>Formateo mediante el filtro @csv en jq.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Rendimiento: </a:t>
            </a:r>
            <a:r>
              <a:rPr sz="1600" b="0">
                <a:solidFill>
                  <a:srgbClr val="F8FAFC"/>
                </a:solidFill>
                <a:latin typeface="Calibri"/>
              </a:rPr>
              <a:t>Procesamiento de miles de objetos en milisegundos.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4937760" cy="4846320"/>
          </a:xfrm>
          <a:prstGeom prst="roundRect">
            <a:avLst/>
          </a:prstGeom>
          <a:solidFill>
            <a:srgbClr val="02061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34D399"/>
                </a:solidFill>
                <a:latin typeface="Trebuchet MS"/>
              </a:defRPr>
            </a:pPr>
            <a:r>
              <a:t>💻 Código / Comandos CLI</a:t>
            </a:r>
          </a:p>
          <a:p>
            <a:pPr>
              <a:defRPr sz="1300">
                <a:solidFill>
                  <a:srgbClr val="7DD3FC"/>
                </a:solidFill>
                <a:latin typeface="Consolas"/>
              </a:defRPr>
            </a:pPr>
            <a:r>
              <a:t># Extraer usuarios activos y emitir formato CSV</a:t>
            </a:r>
            <a:br/>
            <a:r>
              <a:t>cat users.json | jq -r '</a:t>
            </a:r>
            <a:br/>
            <a:r>
              <a:t>  .[] | </a:t>
            </a:r>
            <a:br/>
            <a:r>
              <a:t>  select(.is_active == true) | </a:t>
            </a:r>
            <a:br/>
            <a:r>
              <a:t>  [.id, .name, .email] | </a:t>
            </a:r>
            <a:br/>
            <a:r>
              <a:t>  @csv'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Trebuchet MS"/>
              </a:defRPr>
            </a:pPr>
            <a:r>
              <a:t>Consultas SQL Directas sobre CSV con csvsql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Consultas Relacionales sin Base de Datos: </a:t>
            </a:r>
            <a:r>
              <a:rPr sz="1600" b="0">
                <a:solidFill>
                  <a:srgbClr val="F8FAFC"/>
                </a:solidFill>
                <a:latin typeface="Calibri"/>
              </a:rPr>
              <a:t>Ejecutar sentencias SQL ANSI directamente sobre archivos .csv.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Joins entre Archivos: </a:t>
            </a:r>
            <a:r>
              <a:rPr sz="1600" b="0">
                <a:solidFill>
                  <a:srgbClr val="F8FAFC"/>
                </a:solidFill>
                <a:latin typeface="Calibri"/>
              </a:rPr>
              <a:t>Unir iris.csv con irismeta.csv mediante claves compartidas.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Filtros Complejos: </a:t>
            </a:r>
            <a:r>
              <a:rPr sz="1600" b="0">
                <a:solidFill>
                  <a:srgbClr val="F8FAFC"/>
                </a:solidFill>
                <a:latin typeface="Calibri"/>
              </a:rPr>
              <a:t>Uso de WHERE, GROUP BY, HAVING, COUNT y AVG en la terminal.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4937760" cy="4846320"/>
          </a:xfrm>
          <a:prstGeom prst="roundRect">
            <a:avLst/>
          </a:prstGeom>
          <a:solidFill>
            <a:srgbClr val="02061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34D399"/>
                </a:solidFill>
                <a:latin typeface="Trebuchet MS"/>
              </a:defRPr>
            </a:pPr>
            <a:r>
              <a:t>💻 Código / Comandos CLI</a:t>
            </a:r>
          </a:p>
          <a:p>
            <a:pPr>
              <a:defRPr sz="1300">
                <a:solidFill>
                  <a:srgbClr val="7DD3FC"/>
                </a:solidFill>
                <a:latin typeface="Consolas"/>
              </a:defRPr>
            </a:pPr>
            <a:r>
              <a:t># Consulta SQL sobre archivos CSV locales</a:t>
            </a:r>
            <a:br/>
            <a:r>
              <a:t>csvsql --query \</a:t>
            </a:r>
            <a:br/>
            <a:r>
              <a:t>  "SELECT species, AVG(sepal_length) FROM iris GROUP BY species" \</a:t>
            </a:r>
            <a:br/>
            <a:r>
              <a:t>  iris.csv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Trebuchet MS"/>
              </a:defRPr>
            </a:pPr>
            <a:r>
              <a:t>Conclusiones de la Sesión 11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Limpieza Automatizada: </a:t>
            </a:r>
            <a:r>
              <a:rPr sz="1600" b="0">
                <a:solidFill>
                  <a:srgbClr val="F8FAFC"/>
                </a:solidFill>
                <a:latin typeface="Calibri"/>
              </a:rPr>
              <a:t>Pipelines de limpieza repetibles sin intervención manual.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Interoperabilidad de Formatos: </a:t>
            </a:r>
            <a:r>
              <a:rPr sz="1600" b="0">
                <a:solidFill>
                  <a:srgbClr val="F8FAFC"/>
                </a:solidFill>
                <a:latin typeface="Calibri"/>
              </a:rPr>
              <a:t>Capacidad de convertir cualquier fuente de datos a esquemas analíticos.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Eficiencia Extrema: </a:t>
            </a:r>
            <a:r>
              <a:rPr sz="1600" b="0">
                <a:solidFill>
                  <a:srgbClr val="F8FAFC"/>
                </a:solidFill>
                <a:latin typeface="Calibri"/>
              </a:rPr>
              <a:t>Procesamiento directo en memoria de grandes volúmenes de datos.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